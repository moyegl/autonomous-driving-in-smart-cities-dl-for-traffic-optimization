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8"/>
  </p:notesMasterIdLst>
  <p:handoutMasterIdLst>
    <p:handoutMasterId r:id="rId29"/>
  </p:handoutMasterIdLst>
  <p:sldIdLst>
    <p:sldId id="256" r:id="rId2"/>
    <p:sldId id="257" r:id="rId3"/>
    <p:sldId id="258" r:id="rId4"/>
    <p:sldId id="290" r:id="rId5"/>
    <p:sldId id="269" r:id="rId6"/>
    <p:sldId id="279" r:id="rId7"/>
    <p:sldId id="270" r:id="rId8"/>
    <p:sldId id="273" r:id="rId9"/>
    <p:sldId id="274" r:id="rId10"/>
    <p:sldId id="275" r:id="rId11"/>
    <p:sldId id="262" r:id="rId12"/>
    <p:sldId id="277" r:id="rId13"/>
    <p:sldId id="278" r:id="rId14"/>
    <p:sldId id="271" r:id="rId15"/>
    <p:sldId id="280" r:id="rId16"/>
    <p:sldId id="281" r:id="rId17"/>
    <p:sldId id="285" r:id="rId18"/>
    <p:sldId id="288" r:id="rId19"/>
    <p:sldId id="282" r:id="rId20"/>
    <p:sldId id="283" r:id="rId21"/>
    <p:sldId id="284" r:id="rId22"/>
    <p:sldId id="286" r:id="rId23"/>
    <p:sldId id="287" r:id="rId24"/>
    <p:sldId id="264" r:id="rId25"/>
    <p:sldId id="267" r:id="rId26"/>
    <p:sldId id="289" r:id="rId2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1pPr>
    <a:lvl2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2pPr>
    <a:lvl3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3pPr>
    <a:lvl4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4pPr>
    <a:lvl5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5pPr>
    <a:lvl6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6pPr>
    <a:lvl7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7pPr>
    <a:lvl8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8pPr>
    <a:lvl9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a:tcStyle>
        <a:tcBdr/>
        <a:fill>
          <a:solidFill>
            <a:srgbClr val="FCE9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Helvetica Neue Medium"/>
          <a:ea typeface="Helvetica Neue Medium"/>
          <a:cs typeface="Helvetica Neue Medium"/>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1C997F-F096-E27A-1372-7E03A4EEBA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69B0C4AD-1DDF-305E-8CE0-17E610A1FC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960239-E68F-4103-BFFA-2D8C2F11E39E}" type="datetimeFigureOut">
              <a:rPr lang="en-GB" smtClean="0"/>
              <a:t>21/12/2025</a:t>
            </a:fld>
            <a:endParaRPr lang="en-GB"/>
          </a:p>
        </p:txBody>
      </p:sp>
      <p:sp>
        <p:nvSpPr>
          <p:cNvPr id="4" name="Footer Placeholder 3">
            <a:extLst>
              <a:ext uri="{FF2B5EF4-FFF2-40B4-BE49-F238E27FC236}">
                <a16:creationId xmlns:a16="http://schemas.microsoft.com/office/drawing/2014/main" id="{28C46F22-EF13-26D5-B205-749A5FBA05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BEB138D-F8EA-BB36-180B-1504C4C310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8F5A0B-F097-45FA-8FAC-7B154714050E}" type="slidenum">
              <a:rPr lang="en-GB" smtClean="0"/>
              <a:t>‹#›</a:t>
            </a:fld>
            <a:endParaRPr lang="en-GB"/>
          </a:p>
        </p:txBody>
      </p:sp>
    </p:spTree>
    <p:extLst>
      <p:ext uri="{BB962C8B-B14F-4D97-AF65-F5344CB8AC3E}">
        <p14:creationId xmlns:p14="http://schemas.microsoft.com/office/powerpoint/2010/main" val="37650094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365792909"/>
      </p:ext>
    </p:extLst>
  </p:cSld>
  <p:clrMap bg1="lt1" tx1="dk1" bg2="lt2" tx2="dk2" accent1="accent1" accent2="accent2" accent3="accent3" accent4="accent4" accent5="accent5" accent6="accent6" hlink="hlink" folHlink="folHlink"/>
  <p:hf sldNum="0" hdr="0" ftr="0" dt="0"/>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791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52234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Shape 11"/>
          <p:cNvSpPr>
            <a:spLocks noGrp="1"/>
          </p:cNvSpPr>
          <p:nvPr>
            <p:ph type="title"/>
          </p:nvPr>
        </p:nvSpPr>
        <p:spPr>
          <a:xfrm>
            <a:off x="1778000" y="2298700"/>
            <a:ext cx="20828000" cy="4648200"/>
          </a:xfrm>
          <a:prstGeom prst="rect">
            <a:avLst/>
          </a:prstGeom>
        </p:spPr>
        <p:txBody>
          <a:bodyPr anchor="b"/>
          <a:lstStyle>
            <a:lvl1pPr>
              <a:defRPr sz="11200"/>
            </a:lvl1pPr>
          </a:lstStyle>
          <a:p>
            <a:r>
              <a:t>Title Text</a:t>
            </a:r>
          </a:p>
        </p:txBody>
      </p:sp>
      <p:sp>
        <p:nvSpPr>
          <p:cNvPr id="12" name="Shape 12"/>
          <p:cNvSpPr>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3125967" y="673100"/>
            <a:ext cx="18135603" cy="87376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635000" y="9512300"/>
            <a:ext cx="23114000" cy="2006600"/>
          </a:xfrm>
          <a:prstGeom prst="rect">
            <a:avLst/>
          </a:prstGeom>
        </p:spPr>
        <p:txBody>
          <a:bodyPr anchor="b"/>
          <a:lstStyle>
            <a:lvl1pPr>
              <a:defRPr sz="11200"/>
            </a:lvl1pPr>
          </a:lstStyle>
          <a:p>
            <a:r>
              <a:t>Title Text</a:t>
            </a:r>
          </a:p>
        </p:txBody>
      </p:sp>
      <p:sp>
        <p:nvSpPr>
          <p:cNvPr id="22" name="Shape 22"/>
          <p:cNvSpPr>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1778000" y="4533900"/>
            <a:ext cx="20828000" cy="4648200"/>
          </a:xfrm>
          <a:prstGeom prst="rect">
            <a:avLst/>
          </a:prstGeom>
        </p:spPr>
        <p:txBody>
          <a:bodyPr/>
          <a:lstStyle>
            <a:lvl1pPr>
              <a:defRPr sz="11200"/>
            </a:lvl1p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3165979" y="952500"/>
            <a:ext cx="9525002" cy="114681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1651000" y="952500"/>
            <a:ext cx="10223500" cy="5549900"/>
          </a:xfrm>
          <a:prstGeom prst="rect">
            <a:avLst/>
          </a:prstGeom>
        </p:spPr>
        <p:txBody>
          <a:bodyPr anchor="b"/>
          <a:lstStyle>
            <a:lvl1pPr>
              <a:defRPr sz="8400"/>
            </a:lvl1pPr>
          </a:lstStyle>
          <a:p>
            <a:r>
              <a:t>Title Text</a:t>
            </a:r>
          </a:p>
        </p:txBody>
      </p:sp>
      <p:sp>
        <p:nvSpPr>
          <p:cNvPr id="40" name="Shape 40"/>
          <p:cNvSpPr>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lvl1pPr>
              <a:defRPr sz="11200"/>
            </a:lvl1p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3169900" y="3149600"/>
            <a:ext cx="9525000" cy="929640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lvl1pPr>
              <a:defRPr sz="11200"/>
            </a:lvl1pPr>
          </a:lstStyle>
          <a:p>
            <a:r>
              <a:t>Title Text</a:t>
            </a:r>
          </a:p>
        </p:txBody>
      </p:sp>
      <p:sp>
        <p:nvSpPr>
          <p:cNvPr id="67" name="Shape 67"/>
          <p:cNvSpPr>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1689100" y="1778000"/>
            <a:ext cx="21005800" cy="101600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15760700" y="7048500"/>
            <a:ext cx="7404100" cy="554990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15760700" y="1130300"/>
            <a:ext cx="7404100" cy="554990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206500" y="1130300"/>
            <a:ext cx="14173200" cy="1146810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
          </p:nvPr>
        </p:nvSpPr>
        <p:spPr>
          <a:xfrm>
            <a:off x="2387600" y="8953500"/>
            <a:ext cx="19621500" cy="585521"/>
          </a:xfrm>
          <a:prstGeom prst="rect">
            <a:avLst/>
          </a:prstGeom>
        </p:spPr>
        <p:txBody>
          <a:bodyPr anchor="t"/>
          <a:lstStyle>
            <a:lvl1pPr marL="0" indent="0" algn="ctr">
              <a:spcBef>
                <a:spcPts val="0"/>
              </a:spcBef>
              <a:buSzTx/>
              <a:buNone/>
              <a:defRPr sz="3200" i="1"/>
            </a:lvl1pPr>
            <a:lvl2pPr marL="1025769" indent="-390769" algn="ctr">
              <a:spcBef>
                <a:spcPts val="0"/>
              </a:spcBef>
              <a:defRPr sz="3200" i="1"/>
            </a:lvl2pPr>
            <a:lvl3pPr marL="1660769" indent="-390769" algn="ctr">
              <a:spcBef>
                <a:spcPts val="0"/>
              </a:spcBef>
              <a:defRPr sz="3200" i="1"/>
            </a:lvl3pPr>
            <a:lvl4pPr marL="2295769" indent="-390769" algn="ctr">
              <a:spcBef>
                <a:spcPts val="0"/>
              </a:spcBef>
              <a:defRPr sz="3200" i="1"/>
            </a:lvl4pPr>
            <a:lvl5pPr marL="2930769" indent="-390769" algn="ctr">
              <a:spcBef>
                <a:spcPts val="0"/>
              </a:spcBef>
              <a:defRPr sz="3200" i="1"/>
            </a:lvl5pPr>
          </a:lstStyle>
          <a:p>
            <a:r>
              <a:t>Body Level One</a:t>
            </a:r>
          </a:p>
          <a:p>
            <a:pPr lvl="1"/>
            <a:r>
              <a:t>Body Level Two</a:t>
            </a:r>
          </a:p>
          <a:p>
            <a:pPr lvl="2"/>
            <a:r>
              <a:t>Body Level Three</a:t>
            </a:r>
          </a:p>
          <a:p>
            <a:pPr lvl="3"/>
            <a:r>
              <a:t>Body Level Four</a:t>
            </a:r>
          </a:p>
          <a:p>
            <a:pPr lvl="4"/>
            <a:r>
              <a:t>Body Level Five</a:t>
            </a:r>
          </a:p>
        </p:txBody>
      </p:sp>
      <p:sp>
        <p:nvSpPr>
          <p:cNvPr id="94" name="Shape 94"/>
          <p:cNvSpPr>
            <a:spLocks noGrp="1"/>
          </p:cNvSpPr>
          <p:nvPr>
            <p:ph type="body" sz="quarter" idx="13"/>
          </p:nvPr>
        </p:nvSpPr>
        <p:spPr>
          <a:xfrm>
            <a:off x="2387600" y="6076950"/>
            <a:ext cx="19621500" cy="825500"/>
          </a:xfrm>
          <a:prstGeom prst="rect">
            <a:avLst/>
          </a:prstGeom>
        </p:spPr>
        <p:txBody>
          <a:bodyPr/>
          <a:lstStyle/>
          <a:p>
            <a:pPr marL="0" indent="0" algn="ctr">
              <a:spcBef>
                <a:spcPts val="0"/>
              </a:spcBef>
              <a:buSzTx/>
              <a:buNone/>
              <a:defRPr>
                <a:latin typeface="Helvetica Neue Medium"/>
                <a:ea typeface="Helvetica Neue Medium"/>
                <a:cs typeface="Helvetica Neue Medium"/>
                <a:sym typeface="Helvetica Neue Medium"/>
              </a:defRPr>
            </a:pPr>
            <a:endParaRP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0"/>
            <a:ext cx="24384000" cy="13716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689100" y="355600"/>
            <a:ext cx="21005800" cy="2286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1689100" y="3149600"/>
            <a:ext cx="21005800" cy="92964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1959031" y="13081000"/>
            <a:ext cx="453239" cy="461059"/>
          </a:xfrm>
          <a:prstGeom prst="rect">
            <a:avLst/>
          </a:prstGeom>
          <a:ln w="12700">
            <a:miter lim="400000"/>
          </a:ln>
        </p:spPr>
        <p:txBody>
          <a:bodyPr wrap="none" lIns="50800" tIns="50800" rIns="50800" bIns="50800">
            <a:spAutoFit/>
          </a:bodyPr>
          <a:lstStyle>
            <a:lvl1pPr>
              <a:defRPr sz="24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hf hdr="0" dt="0"/>
  <p:txStyles>
    <p:titleStyle>
      <a:lvl1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1pPr>
      <a:lvl2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2pPr>
      <a:lvl3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3pPr>
      <a:lvl4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4pPr>
      <a:lvl5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5pPr>
      <a:lvl6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6pPr>
      <a:lvl7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7pPr>
      <a:lvl8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8pPr>
      <a:lvl9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9pPr>
    </p:titleStyle>
    <p:bodyStyle>
      <a:lvl1pPr marL="635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1pPr>
      <a:lvl2pPr marL="1270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2pPr>
      <a:lvl3pPr marL="1905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3pPr>
      <a:lvl4pPr marL="2540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4pPr>
      <a:lvl5pPr marL="3175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5pPr>
      <a:lvl6pPr marL="3761153" marR="0" indent="-586153"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6pPr>
      <a:lvl7pPr marL="4396153" marR="0" indent="-586153"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7pPr>
      <a:lvl8pPr marL="5031153" marR="0" indent="-586153"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8pPr>
      <a:lvl9pPr marL="5666153" marR="0" indent="-586153"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1pPr>
      <a:lvl2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2pPr>
      <a:lvl3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3pPr>
      <a:lvl4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4pPr>
      <a:lvl5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5pPr>
      <a:lvl6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6pPr>
      <a:lvl7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7pPr>
      <a:lvl8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8pPr>
      <a:lvl9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2.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mailto:presenter@name.com" TargetMode="External"/><Relationship Id="rId2" Type="http://schemas.openxmlformats.org/officeDocument/2006/relationships/hyperlink" Target="https://leotek.com/wp-content/uploads/2024/02/%E6%9C%AA%E5%91%BD%E5%90%8D%E8%A8%AD%E8%A8%88-2025-02-19T145113.775.jpg"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 name="Shape 119"/>
          <p:cNvSpPr/>
          <p:nvPr/>
        </p:nvSpPr>
        <p:spPr>
          <a:xfrm>
            <a:off x="10050414" y="6684171"/>
            <a:ext cx="13432583" cy="2299669"/>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p>
            <a:pPr lvl="2" algn="l" defTabSz="457200">
              <a:lnSpc>
                <a:spcPts val="8700"/>
              </a:lnSpc>
              <a:defRPr sz="7100" spc="496">
                <a:latin typeface="Cantata One"/>
                <a:ea typeface="Cantata One"/>
                <a:cs typeface="Cantata One"/>
                <a:sym typeface="Cantata One"/>
              </a:defRPr>
            </a:pPr>
            <a:r>
              <a:rPr lang="en-GB" sz="7200" dirty="0">
                <a:latin typeface="Bodoni MT Condensed" panose="02070606080606020203" pitchFamily="18" charset="0"/>
              </a:rPr>
              <a:t>Autonomous Driving in Smart Cities:</a:t>
            </a:r>
          </a:p>
          <a:p>
            <a:pPr lvl="2" algn="l" defTabSz="457200">
              <a:lnSpc>
                <a:spcPts val="8700"/>
              </a:lnSpc>
              <a:defRPr sz="7100" spc="496">
                <a:latin typeface="Cantata One"/>
                <a:ea typeface="Cantata One"/>
                <a:cs typeface="Cantata One"/>
                <a:sym typeface="Cantata One"/>
              </a:defRPr>
            </a:pPr>
            <a:r>
              <a:rPr lang="en-GB" sz="7200" dirty="0">
                <a:latin typeface="Bodoni MT Condensed" panose="02070606080606020203" pitchFamily="18" charset="0"/>
              </a:rPr>
              <a:t> Deep Learning for Traffic Optimization</a:t>
            </a:r>
            <a:endParaRPr sz="7200" dirty="0">
              <a:latin typeface="Bodoni MT Condensed" panose="02070606080606020203" pitchFamily="18" charset="0"/>
            </a:endParaRPr>
          </a:p>
        </p:txBody>
      </p:sp>
      <p:sp>
        <p:nvSpPr>
          <p:cNvPr id="120" name="Shape 120"/>
          <p:cNvSpPr/>
          <p:nvPr/>
        </p:nvSpPr>
        <p:spPr>
          <a:xfrm>
            <a:off x="12888268" y="10370700"/>
            <a:ext cx="7437027" cy="1323439"/>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p>
            <a:pPr>
              <a:spcBef>
                <a:spcPts val="229"/>
              </a:spcBef>
            </a:pPr>
            <a:r>
              <a:rPr lang="en-US" sz="2000" dirty="0">
                <a:solidFill>
                  <a:schemeClr val="tx1"/>
                </a:solidFill>
                <a:latin typeface="Times New Roman"/>
                <a:cs typeface="Times New Roman"/>
              </a:rPr>
              <a:t>Presented by</a:t>
            </a:r>
          </a:p>
          <a:p>
            <a:pPr>
              <a:spcBef>
                <a:spcPts val="229"/>
              </a:spcBef>
            </a:pPr>
            <a:r>
              <a:rPr lang="en-US" sz="3600" dirty="0">
                <a:solidFill>
                  <a:schemeClr val="tx1"/>
                </a:solidFill>
                <a:latin typeface="Times New Roman"/>
                <a:cs typeface="Times New Roman"/>
              </a:rPr>
              <a:t>Moye</a:t>
            </a:r>
            <a:r>
              <a:rPr lang="en-US" sz="3600" spc="-60" dirty="0">
                <a:solidFill>
                  <a:schemeClr val="tx1"/>
                </a:solidFill>
                <a:latin typeface="Times New Roman"/>
                <a:cs typeface="Times New Roman"/>
              </a:rPr>
              <a:t> </a:t>
            </a:r>
            <a:r>
              <a:rPr lang="en-US" sz="3600" dirty="0">
                <a:solidFill>
                  <a:schemeClr val="tx1"/>
                </a:solidFill>
                <a:latin typeface="Times New Roman"/>
                <a:cs typeface="Times New Roman"/>
              </a:rPr>
              <a:t>Nyuysoni</a:t>
            </a:r>
            <a:r>
              <a:rPr lang="en-US" sz="3600" spc="-55" dirty="0">
                <a:solidFill>
                  <a:schemeClr val="tx1"/>
                </a:solidFill>
                <a:latin typeface="Times New Roman"/>
                <a:cs typeface="Times New Roman"/>
              </a:rPr>
              <a:t> </a:t>
            </a:r>
            <a:r>
              <a:rPr lang="en-US" sz="3600" dirty="0">
                <a:solidFill>
                  <a:schemeClr val="tx1"/>
                </a:solidFill>
                <a:latin typeface="Times New Roman"/>
                <a:cs typeface="Times New Roman"/>
              </a:rPr>
              <a:t>Glein</a:t>
            </a:r>
            <a:r>
              <a:rPr lang="en-US" sz="3600" spc="-20" dirty="0">
                <a:solidFill>
                  <a:schemeClr val="tx1"/>
                </a:solidFill>
                <a:latin typeface="Times New Roman"/>
                <a:cs typeface="Times New Roman"/>
              </a:rPr>
              <a:t> </a:t>
            </a:r>
            <a:r>
              <a:rPr lang="en-US" sz="3600" spc="-10" dirty="0">
                <a:solidFill>
                  <a:schemeClr val="tx1"/>
                </a:solidFill>
                <a:latin typeface="Times New Roman"/>
                <a:cs typeface="Times New Roman"/>
              </a:rPr>
              <a:t>Perry</a:t>
            </a:r>
          </a:p>
          <a:p>
            <a:pPr>
              <a:spcBef>
                <a:spcPts val="229"/>
              </a:spcBef>
            </a:pPr>
            <a:endParaRPr lang="en-US" sz="2000" dirty="0">
              <a:solidFill>
                <a:schemeClr val="tx1"/>
              </a:solidFill>
              <a:latin typeface="Times New Roman"/>
              <a:cs typeface="Times New Roman"/>
            </a:endParaRPr>
          </a:p>
        </p:txBody>
      </p:sp>
      <p:sp>
        <p:nvSpPr>
          <p:cNvPr id="121" name="Shape 121"/>
          <p:cNvSpPr/>
          <p:nvPr/>
        </p:nvSpPr>
        <p:spPr>
          <a:xfrm>
            <a:off x="-736051" y="884255"/>
            <a:ext cx="20722221" cy="4187734"/>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123" name="Shape 123"/>
          <p:cNvSpPr/>
          <p:nvPr/>
        </p:nvSpPr>
        <p:spPr>
          <a:xfrm>
            <a:off x="2742371" y="11838511"/>
            <a:ext cx="8545216" cy="242988"/>
          </a:xfrm>
          <a:prstGeom prst="rect">
            <a:avLst/>
          </a:prstGeom>
          <a:solidFill>
            <a:srgbClr val="DDDDDD"/>
          </a:solidFill>
          <a:ln w="12700">
            <a:miter lim="400000"/>
          </a:ln>
        </p:spPr>
        <p:txBody>
          <a:bodyPr lIns="0" tIns="0" rIns="0" bIns="0" anchor="ctr"/>
          <a:lstStyle/>
          <a:p>
            <a:pPr>
              <a:defRPr>
                <a:solidFill>
                  <a:srgbClr val="FFFFFF"/>
                </a:solidFill>
              </a:defRPr>
            </a:pPr>
            <a:endParaRPr/>
          </a:p>
        </p:txBody>
      </p:sp>
      <p:pic>
        <p:nvPicPr>
          <p:cNvPr id="3" name="Picture 2">
            <a:extLst>
              <a:ext uri="{FF2B5EF4-FFF2-40B4-BE49-F238E27FC236}">
                <a16:creationId xmlns:a16="http://schemas.microsoft.com/office/drawing/2014/main" id="{33689B44-CC82-E25F-E4A0-70B195A293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8792" y="2070100"/>
            <a:ext cx="8172449" cy="11010900"/>
          </a:xfrm>
          <a:prstGeom prst="rect">
            <a:avLst/>
          </a:prstGeom>
        </p:spPr>
      </p:pic>
      <p:pic>
        <p:nvPicPr>
          <p:cNvPr id="6" name="Picture 5">
            <a:extLst>
              <a:ext uri="{FF2B5EF4-FFF2-40B4-BE49-F238E27FC236}">
                <a16:creationId xmlns:a16="http://schemas.microsoft.com/office/drawing/2014/main" id="{76D90C41-C843-6C7F-2B93-4473A37052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428299" y="-1"/>
            <a:ext cx="4045302" cy="1698171"/>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Shape 125"/>
          <p:cNvSpPr/>
          <p:nvPr/>
        </p:nvSpPr>
        <p:spPr>
          <a:xfrm>
            <a:off x="2043998" y="9764762"/>
            <a:ext cx="10673555" cy="1270001"/>
          </a:xfrm>
          <a:prstGeom prst="roundRect">
            <a:avLst>
              <a:gd name="adj" fmla="val 15000"/>
            </a:avLst>
          </a:prstGeom>
          <a:solidFill>
            <a:srgbClr val="0070C0"/>
          </a:solidFill>
          <a:ln w="12700">
            <a:solidFill>
              <a:schemeClr val="accent1">
                <a:lumMod val="50000"/>
              </a:schemeClr>
            </a:solidFill>
            <a:miter lim="400000"/>
          </a:ln>
        </p:spPr>
        <p:txBody>
          <a:bodyPr lIns="0" tIns="0" rIns="0" bIns="0" anchor="ctr"/>
          <a:lstStyle/>
          <a:p>
            <a:pPr>
              <a:defRPr>
                <a:solidFill>
                  <a:srgbClr val="FFFFFF"/>
                </a:solidFill>
              </a:defRPr>
            </a:pPr>
            <a:endParaRPr/>
          </a:p>
        </p:txBody>
      </p:sp>
      <p:sp>
        <p:nvSpPr>
          <p:cNvPr id="126" name="Shape 126"/>
          <p:cNvSpPr/>
          <p:nvPr/>
        </p:nvSpPr>
        <p:spPr>
          <a:xfrm>
            <a:off x="2043998" y="8038114"/>
            <a:ext cx="10673555" cy="1270001"/>
          </a:xfrm>
          <a:prstGeom prst="roundRect">
            <a:avLst>
              <a:gd name="adj" fmla="val 15000"/>
            </a:avLst>
          </a:prstGeom>
          <a:solidFill>
            <a:srgbClr val="0070C0"/>
          </a:solidFill>
          <a:ln w="12700">
            <a:solidFill>
              <a:srgbClr val="0070C0"/>
            </a:solidFill>
            <a:miter lim="400000"/>
          </a:ln>
        </p:spPr>
        <p:txBody>
          <a:bodyPr lIns="0" tIns="0" rIns="0" bIns="0" anchor="ctr"/>
          <a:lstStyle/>
          <a:p>
            <a:endParaRPr dirty="0">
              <a:solidFill>
                <a:srgbClr val="FFFFFF"/>
              </a:solidFill>
            </a:endParaRPr>
          </a:p>
        </p:txBody>
      </p:sp>
      <p:sp>
        <p:nvSpPr>
          <p:cNvPr id="127" name="Shape 127"/>
          <p:cNvSpPr/>
          <p:nvPr/>
        </p:nvSpPr>
        <p:spPr>
          <a:xfrm>
            <a:off x="2043998" y="6311466"/>
            <a:ext cx="10673555" cy="1270001"/>
          </a:xfrm>
          <a:prstGeom prst="roundRect">
            <a:avLst>
              <a:gd name="adj" fmla="val 15000"/>
            </a:avLst>
          </a:prstGeom>
          <a:solidFill>
            <a:srgbClr val="0070C0"/>
          </a:solidFill>
          <a:ln w="12700">
            <a:solidFill>
              <a:srgbClr val="0070C0"/>
            </a:solidFill>
            <a:miter lim="400000"/>
          </a:ln>
        </p:spPr>
        <p:txBody>
          <a:bodyPr lIns="0" tIns="0" rIns="0" bIns="0" anchor="ctr"/>
          <a:lstStyle/>
          <a:p>
            <a:pPr>
              <a:defRPr>
                <a:solidFill>
                  <a:srgbClr val="FFFFFF"/>
                </a:solidFill>
              </a:defRPr>
            </a:pPr>
            <a:r>
              <a:rPr lang="en-GB" dirty="0">
                <a:solidFill>
                  <a:srgbClr val="FFFFFF"/>
                </a:solidFill>
              </a:rPr>
              <a:t>Introduction &amp; Motivation</a:t>
            </a:r>
            <a:endParaRPr dirty="0">
              <a:solidFill>
                <a:srgbClr val="FFFFFF"/>
              </a:solidFill>
            </a:endParaRPr>
          </a:p>
        </p:txBody>
      </p:sp>
      <p:sp>
        <p:nvSpPr>
          <p:cNvPr id="128" name="Shape 128"/>
          <p:cNvSpPr/>
          <p:nvPr/>
        </p:nvSpPr>
        <p:spPr>
          <a:xfrm>
            <a:off x="-595373" y="914400"/>
            <a:ext cx="23899020" cy="4281389"/>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129" name="Shape 129"/>
          <p:cNvSpPr/>
          <p:nvPr/>
        </p:nvSpPr>
        <p:spPr>
          <a:xfrm>
            <a:off x="14184311" y="10946687"/>
            <a:ext cx="7553427" cy="1443807"/>
          </a:xfrm>
          <a:prstGeom prst="rect">
            <a:avLst/>
          </a:prstGeom>
          <a:solidFill>
            <a:srgbClr val="535353"/>
          </a:solidFill>
          <a:ln w="12700">
            <a:miter lim="400000"/>
          </a:ln>
        </p:spPr>
        <p:txBody>
          <a:bodyPr lIns="0" tIns="0" rIns="0" bIns="0" anchor="ctr"/>
          <a:lstStyle/>
          <a:p>
            <a:pPr>
              <a:defRPr sz="3200">
                <a:solidFill>
                  <a:srgbClr val="FFFFFF"/>
                </a:solidFill>
              </a:defRPr>
            </a:pPr>
            <a:endParaRPr/>
          </a:p>
        </p:txBody>
      </p:sp>
      <p:sp>
        <p:nvSpPr>
          <p:cNvPr id="130" name="Shape 130"/>
          <p:cNvSpPr/>
          <p:nvPr/>
        </p:nvSpPr>
        <p:spPr>
          <a:xfrm>
            <a:off x="2105428" y="2314304"/>
            <a:ext cx="9687095" cy="1481431"/>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lnSpc>
                <a:spcPct val="120000"/>
              </a:lnSpc>
              <a:defRPr sz="8000" spc="480">
                <a:latin typeface="Cantata One"/>
                <a:ea typeface="Cantata One"/>
                <a:cs typeface="Cantata One"/>
                <a:sym typeface="Cantata One"/>
              </a:defRPr>
            </a:lvl1pPr>
          </a:lstStyle>
          <a:p>
            <a:r>
              <a:rPr dirty="0">
                <a:solidFill>
                  <a:schemeClr val="bg1"/>
                </a:solidFill>
              </a:rPr>
              <a:t>AGENDA</a:t>
            </a:r>
          </a:p>
        </p:txBody>
      </p:sp>
      <p:sp>
        <p:nvSpPr>
          <p:cNvPr id="131" name="Shape 131"/>
          <p:cNvSpPr/>
          <p:nvPr/>
        </p:nvSpPr>
        <p:spPr>
          <a:xfrm>
            <a:off x="3933747" y="6671135"/>
            <a:ext cx="7254648" cy="550664"/>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lnSpc>
                <a:spcPct val="120000"/>
              </a:lnSpc>
              <a:defRPr sz="2600" spc="182">
                <a:latin typeface="Cantata One"/>
                <a:ea typeface="Cantata One"/>
                <a:cs typeface="Cantata One"/>
                <a:sym typeface="Cantata One"/>
              </a:defRPr>
            </a:lvl1pPr>
          </a:lstStyle>
          <a:p>
            <a:endParaRPr dirty="0"/>
          </a:p>
        </p:txBody>
      </p:sp>
      <p:sp>
        <p:nvSpPr>
          <p:cNvPr id="132" name="Shape 132"/>
          <p:cNvSpPr/>
          <p:nvPr/>
        </p:nvSpPr>
        <p:spPr>
          <a:xfrm>
            <a:off x="5124606" y="8254833"/>
            <a:ext cx="8494314" cy="723083"/>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algn="l" defTabSz="457200">
              <a:lnSpc>
                <a:spcPct val="120000"/>
              </a:lnSpc>
              <a:defRPr>
                <a:solidFill>
                  <a:srgbClr val="FFFFFF"/>
                </a:solidFill>
              </a:defRPr>
            </a:pPr>
            <a:r>
              <a:rPr lang="en-GB" sz="3600" dirty="0">
                <a:solidFill>
                  <a:srgbClr val="FFFFFF"/>
                </a:solidFill>
                <a:latin typeface="Cantata One"/>
                <a:sym typeface="Cantata One"/>
              </a:rPr>
              <a:t>Deep Learning</a:t>
            </a:r>
            <a:endParaRPr sz="3600" dirty="0">
              <a:solidFill>
                <a:srgbClr val="FFFFFF"/>
              </a:solidFill>
              <a:latin typeface="Cantata One"/>
              <a:sym typeface="Cantata One"/>
            </a:endParaRPr>
          </a:p>
        </p:txBody>
      </p:sp>
      <p:sp>
        <p:nvSpPr>
          <p:cNvPr id="133" name="Shape 133"/>
          <p:cNvSpPr/>
          <p:nvPr/>
        </p:nvSpPr>
        <p:spPr>
          <a:xfrm>
            <a:off x="4775598" y="10038220"/>
            <a:ext cx="7416402" cy="723083"/>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lnSpc>
                <a:spcPct val="120000"/>
              </a:lnSpc>
              <a:defRPr sz="2600" spc="182">
                <a:latin typeface="Cantata One"/>
                <a:ea typeface="Cantata One"/>
                <a:cs typeface="Cantata One"/>
                <a:sym typeface="Cantata One"/>
              </a:defRPr>
            </a:lvl1pPr>
          </a:lstStyle>
          <a:p>
            <a:r>
              <a:rPr lang="de-DE" sz="3600" spc="0" dirty="0">
                <a:solidFill>
                  <a:srgbClr val="FFFFFF"/>
                </a:solidFill>
                <a:sym typeface="Helvetica Neue Medium"/>
              </a:rPr>
              <a:t>Traffic Optimization</a:t>
            </a:r>
            <a:endParaRPr sz="3600" spc="0" dirty="0">
              <a:solidFill>
                <a:srgbClr val="FFFFFF"/>
              </a:solidFill>
              <a:sym typeface="Helvetica Neue Medium"/>
            </a:endParaRPr>
          </a:p>
        </p:txBody>
      </p:sp>
      <p:sp>
        <p:nvSpPr>
          <p:cNvPr id="134" name="Shape 134"/>
          <p:cNvSpPr/>
          <p:nvPr/>
        </p:nvSpPr>
        <p:spPr>
          <a:xfrm>
            <a:off x="2425501" y="6224174"/>
            <a:ext cx="1941087" cy="1393779"/>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lnSpc>
                <a:spcPct val="120000"/>
              </a:lnSpc>
              <a:defRPr sz="7700" b="1" spc="-616">
                <a:latin typeface="+mn-lt"/>
                <a:ea typeface="+mn-ea"/>
                <a:cs typeface="+mn-cs"/>
                <a:sym typeface="Helvetica"/>
              </a:defRPr>
            </a:lvl1pPr>
          </a:lstStyle>
          <a:p>
            <a:r>
              <a:rPr dirty="0">
                <a:solidFill>
                  <a:schemeClr val="bg1"/>
                </a:solidFill>
              </a:rPr>
              <a:t>01</a:t>
            </a:r>
          </a:p>
        </p:txBody>
      </p:sp>
      <p:sp>
        <p:nvSpPr>
          <p:cNvPr id="135" name="Shape 135"/>
          <p:cNvSpPr/>
          <p:nvPr/>
        </p:nvSpPr>
        <p:spPr>
          <a:xfrm>
            <a:off x="2412801" y="7919486"/>
            <a:ext cx="1941087" cy="1393779"/>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lnSpc>
                <a:spcPct val="120000"/>
              </a:lnSpc>
              <a:defRPr sz="7700" b="1" spc="-616">
                <a:latin typeface="+mn-lt"/>
                <a:ea typeface="+mn-ea"/>
                <a:cs typeface="+mn-cs"/>
                <a:sym typeface="Helvetica"/>
              </a:defRPr>
            </a:lvl1pPr>
          </a:lstStyle>
          <a:p>
            <a:r>
              <a:rPr dirty="0">
                <a:solidFill>
                  <a:schemeClr val="bg1"/>
                </a:solidFill>
              </a:rPr>
              <a:t>02</a:t>
            </a:r>
          </a:p>
        </p:txBody>
      </p:sp>
      <p:sp>
        <p:nvSpPr>
          <p:cNvPr id="136" name="Shape 136"/>
          <p:cNvSpPr/>
          <p:nvPr/>
        </p:nvSpPr>
        <p:spPr>
          <a:xfrm>
            <a:off x="2375346" y="9614798"/>
            <a:ext cx="1228597" cy="1393779"/>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lnSpc>
                <a:spcPct val="120000"/>
              </a:lnSpc>
              <a:defRPr sz="7700" b="1" spc="-616">
                <a:latin typeface="+mn-lt"/>
                <a:ea typeface="+mn-ea"/>
                <a:cs typeface="+mn-cs"/>
                <a:sym typeface="Helvetica"/>
              </a:defRPr>
            </a:lvl1pPr>
          </a:lstStyle>
          <a:p>
            <a:r>
              <a:rPr dirty="0">
                <a:solidFill>
                  <a:schemeClr val="bg1"/>
                </a:solidFill>
              </a:rPr>
              <a:t>03</a:t>
            </a:r>
          </a:p>
        </p:txBody>
      </p:sp>
      <p:pic>
        <p:nvPicPr>
          <p:cNvPr id="5" name="Picture 4">
            <a:extLst>
              <a:ext uri="{FF2B5EF4-FFF2-40B4-BE49-F238E27FC236}">
                <a16:creationId xmlns:a16="http://schemas.microsoft.com/office/drawing/2014/main" id="{F281CBB3-60E3-CC7F-3727-B6C38C81E3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99056" y="5606542"/>
            <a:ext cx="10358749" cy="5827340"/>
          </a:xfrm>
          <a:prstGeom prst="rect">
            <a:avLst/>
          </a:prstGeom>
        </p:spPr>
      </p:pic>
      <p:sp>
        <p:nvSpPr>
          <p:cNvPr id="8" name="Slide Number Placeholder 7">
            <a:extLst>
              <a:ext uri="{FF2B5EF4-FFF2-40B4-BE49-F238E27FC236}">
                <a16:creationId xmlns:a16="http://schemas.microsoft.com/office/drawing/2014/main" id="{55B54079-4F68-9005-A317-B648F4D23568}"/>
              </a:ext>
            </a:extLst>
          </p:cNvPr>
          <p:cNvSpPr>
            <a:spLocks noGrp="1"/>
          </p:cNvSpPr>
          <p:nvPr>
            <p:ph type="sldNum" sz="quarter" idx="2"/>
          </p:nvPr>
        </p:nvSpPr>
        <p:spPr/>
        <p:txBody>
          <a:bodyPr/>
          <a:lstStyle/>
          <a:p>
            <a:fld id="{86CB4B4D-7CA3-9044-876B-883B54F8677D}" type="slidenum">
              <a:rPr lang="en-GB" smtClean="0"/>
              <a:t>2</a:t>
            </a:fld>
            <a:endParaRPr lang="en-GB"/>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139"/>
          <p:cNvSpPr/>
          <p:nvPr/>
        </p:nvSpPr>
        <p:spPr>
          <a:xfrm>
            <a:off x="12055071" y="1155421"/>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p:cNvSpPr/>
          <p:nvPr/>
        </p:nvSpPr>
        <p:spPr>
          <a:xfrm>
            <a:off x="-1846215"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r>
              <a:rPr lang="en-GB" sz="2000" i="1" dirty="0">
                <a:solidFill>
                  <a:schemeClr val="bg1"/>
                </a:solidFill>
              </a:rPr>
              <a:t>Figure 1: Smart City</a:t>
            </a:r>
            <a:endParaRPr sz="2000" i="1" dirty="0"/>
          </a:p>
        </p:txBody>
      </p:sp>
      <p:sp>
        <p:nvSpPr>
          <p:cNvPr id="141" name="Shape 141"/>
          <p:cNvSpPr/>
          <p:nvPr/>
        </p:nvSpPr>
        <p:spPr>
          <a:xfrm>
            <a:off x="1527615" y="6882565"/>
            <a:ext cx="13527100" cy="235128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Vision-Based Traffic Sensing</a:t>
            </a:r>
          </a:p>
          <a:p>
            <a:pPr marL="342900" indent="-342900">
              <a:lnSpc>
                <a:spcPct val="150000"/>
              </a:lnSpc>
              <a:buFont typeface="Wingdings" panose="05000000000000000000" pitchFamily="2" charset="2"/>
              <a:buChar char="q"/>
            </a:pPr>
            <a:r>
              <a:rPr lang="en-GB" dirty="0">
                <a:solidFill>
                  <a:schemeClr val="bg1"/>
                </a:solidFill>
              </a:rPr>
              <a:t> Traffic Density Estimation</a:t>
            </a:r>
          </a:p>
          <a:p>
            <a:pPr marL="342900" indent="-342900">
              <a:lnSpc>
                <a:spcPct val="150000"/>
              </a:lnSpc>
              <a:buFont typeface="Wingdings" panose="05000000000000000000" pitchFamily="2" charset="2"/>
              <a:buChar char="q"/>
            </a:pPr>
            <a:r>
              <a:rPr lang="en-GB" dirty="0">
                <a:solidFill>
                  <a:schemeClr val="bg1"/>
                </a:solidFill>
              </a:rPr>
              <a:t> Adaptive Signal Control</a:t>
            </a:r>
          </a:p>
          <a:p>
            <a:pPr>
              <a:lnSpc>
                <a:spcPct val="150000"/>
              </a:lnSpc>
            </a:pPr>
            <a:endParaRPr lang="en-GB" dirty="0">
              <a:solidFill>
                <a:schemeClr val="bg1"/>
              </a:solidFill>
            </a:endParaRPr>
          </a:p>
        </p:txBody>
      </p:sp>
      <p:sp>
        <p:nvSpPr>
          <p:cNvPr id="142" name="Shape 142"/>
          <p:cNvSpPr/>
          <p:nvPr/>
        </p:nvSpPr>
        <p:spPr>
          <a:xfrm>
            <a:off x="1527615" y="2494354"/>
            <a:ext cx="9338697" cy="3149580"/>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Camera-Based Vehicle Detection for Smart Traffic Optimization</a:t>
            </a:r>
            <a:endParaRPr sz="6600" b="1" dirty="0"/>
          </a:p>
        </p:txBody>
      </p:sp>
      <p:sp>
        <p:nvSpPr>
          <p:cNvPr id="143" name="Shape 143"/>
          <p:cNvSpPr/>
          <p:nvPr/>
        </p:nvSpPr>
        <p:spPr>
          <a:xfrm>
            <a:off x="1527616" y="6316799"/>
            <a:ext cx="8816534" cy="36376"/>
          </a:xfrm>
          <a:prstGeom prst="line">
            <a:avLst/>
          </a:prstGeom>
          <a:ln w="25400">
            <a:solidFill>
              <a:srgbClr val="000000"/>
            </a:solidFill>
            <a:miter lim="400000"/>
          </a:ln>
        </p:spPr>
        <p:txBody>
          <a:bodyPr lIns="45718" tIns="45718" rIns="45718" bIns="45718"/>
          <a:lstStyle/>
          <a:p>
            <a:endParaRPr/>
          </a:p>
        </p:txBody>
      </p:sp>
      <p:sp>
        <p:nvSpPr>
          <p:cNvPr id="145" name="Shape 145"/>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1C0954AF-85CE-3944-7BA4-F0F0B0BD30A7}"/>
              </a:ext>
            </a:extLst>
          </p:cNvPr>
          <p:cNvSpPr>
            <a:spLocks noGrp="1"/>
          </p:cNvSpPr>
          <p:nvPr>
            <p:ph type="sldNum" sz="quarter" idx="2"/>
          </p:nvPr>
        </p:nvSpPr>
        <p:spPr>
          <a:xfrm>
            <a:off x="12048594" y="13081000"/>
            <a:ext cx="274114" cy="471924"/>
          </a:xfrm>
        </p:spPr>
        <p:txBody>
          <a:bodyPr/>
          <a:lstStyle/>
          <a:p>
            <a:r>
              <a:rPr lang="de-DE" dirty="0"/>
              <a:t>3</a:t>
            </a:r>
            <a:endParaRPr lang="en-GB" dirty="0"/>
          </a:p>
        </p:txBody>
      </p:sp>
      <p:pic>
        <p:nvPicPr>
          <p:cNvPr id="6" name="Picture 5">
            <a:extLst>
              <a:ext uri="{FF2B5EF4-FFF2-40B4-BE49-F238E27FC236}">
                <a16:creationId xmlns:a16="http://schemas.microsoft.com/office/drawing/2014/main" id="{27EEB2F0-9650-3B25-7421-1C939A29E8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11" name="Picture 10">
            <a:extLst>
              <a:ext uri="{FF2B5EF4-FFF2-40B4-BE49-F238E27FC236}">
                <a16:creationId xmlns:a16="http://schemas.microsoft.com/office/drawing/2014/main" id="{2B8F58B0-B9E0-7D1A-D8F0-E8DFC32656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16769" y="3548268"/>
            <a:ext cx="10620664" cy="5974123"/>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BD801-B902-6B5B-8388-4889E76E2ED0}"/>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6E2BD13A-C7FC-021B-3E5E-939B42A3A4E4}"/>
              </a:ext>
            </a:extLst>
          </p:cNvPr>
          <p:cNvSpPr/>
          <p:nvPr/>
        </p:nvSpPr>
        <p:spPr>
          <a:xfrm>
            <a:off x="12055071" y="1155421"/>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7D4554E3-C5CF-75B0-7817-AAD51CF2B788}"/>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50948A26-441A-0760-EC19-3CCDEF7A0E32}"/>
              </a:ext>
            </a:extLst>
          </p:cNvPr>
          <p:cNvSpPr/>
          <p:nvPr/>
        </p:nvSpPr>
        <p:spPr>
          <a:xfrm>
            <a:off x="1527615" y="6594025"/>
            <a:ext cx="13527100" cy="292836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Traffic congestion causes delays and unsafe driving</a:t>
            </a:r>
          </a:p>
          <a:p>
            <a:pPr marL="342900" indent="-342900">
              <a:lnSpc>
                <a:spcPct val="150000"/>
              </a:lnSpc>
              <a:buFont typeface="Wingdings" panose="05000000000000000000" pitchFamily="2" charset="2"/>
              <a:buChar char="q"/>
            </a:pPr>
            <a:r>
              <a:rPr lang="en-GB" dirty="0">
                <a:solidFill>
                  <a:schemeClr val="bg1"/>
                </a:solidFill>
              </a:rPr>
              <a:t> Harsh braking is a symptom of traffic instability</a:t>
            </a:r>
          </a:p>
          <a:p>
            <a:pPr marL="342900" indent="-342900">
              <a:lnSpc>
                <a:spcPct val="150000"/>
              </a:lnSpc>
              <a:buFont typeface="Wingdings" panose="05000000000000000000" pitchFamily="2" charset="2"/>
              <a:buChar char="q"/>
            </a:pPr>
            <a:r>
              <a:rPr lang="en-GB" dirty="0">
                <a:solidFill>
                  <a:schemeClr val="bg1"/>
                </a:solidFill>
              </a:rPr>
              <a:t> Smart cities require predictive, not reactive, traffic control </a:t>
            </a:r>
          </a:p>
          <a:p>
            <a:pPr marL="342900" indent="-342900">
              <a:lnSpc>
                <a:spcPct val="150000"/>
              </a:lnSpc>
              <a:buFont typeface="Wingdings" panose="05000000000000000000" pitchFamily="2" charset="2"/>
              <a:buChar char="q"/>
            </a:pPr>
            <a:r>
              <a:rPr lang="en-GB" dirty="0">
                <a:solidFill>
                  <a:schemeClr val="bg1"/>
                </a:solidFill>
              </a:rPr>
              <a:t>Deep Learning enables learning traffic dynamics from data</a:t>
            </a:r>
          </a:p>
          <a:p>
            <a:pPr>
              <a:lnSpc>
                <a:spcPct val="150000"/>
              </a:lnSpc>
            </a:pPr>
            <a:endParaRPr lang="en-GB" dirty="0">
              <a:solidFill>
                <a:schemeClr val="bg1"/>
              </a:solidFill>
            </a:endParaRPr>
          </a:p>
        </p:txBody>
      </p:sp>
      <p:sp>
        <p:nvSpPr>
          <p:cNvPr id="142" name="Shape 142">
            <a:extLst>
              <a:ext uri="{FF2B5EF4-FFF2-40B4-BE49-F238E27FC236}">
                <a16:creationId xmlns:a16="http://schemas.microsoft.com/office/drawing/2014/main" id="{FE324EF6-F2AB-1741-0FF8-BC124AB80512}"/>
              </a:ext>
            </a:extLst>
          </p:cNvPr>
          <p:cNvSpPr/>
          <p:nvPr/>
        </p:nvSpPr>
        <p:spPr>
          <a:xfrm>
            <a:off x="1560951" y="4638239"/>
            <a:ext cx="7721501" cy="11182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Motivation</a:t>
            </a:r>
            <a:endParaRPr sz="6600" b="1" dirty="0"/>
          </a:p>
        </p:txBody>
      </p:sp>
      <p:sp>
        <p:nvSpPr>
          <p:cNvPr id="143" name="Shape 143">
            <a:extLst>
              <a:ext uri="{FF2B5EF4-FFF2-40B4-BE49-F238E27FC236}">
                <a16:creationId xmlns:a16="http://schemas.microsoft.com/office/drawing/2014/main" id="{ABED03D5-54C3-3339-2A7D-828CD8014FEC}"/>
              </a:ext>
            </a:extLst>
          </p:cNvPr>
          <p:cNvSpPr/>
          <p:nvPr/>
        </p:nvSpPr>
        <p:spPr>
          <a:xfrm>
            <a:off x="1527616" y="6316799"/>
            <a:ext cx="8816534" cy="36376"/>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20B3356B-B3D5-BC76-0759-8CC951C4C4E3}"/>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166BEA02-827B-4950-934E-2260D2F565E1}"/>
              </a:ext>
            </a:extLst>
          </p:cNvPr>
          <p:cNvSpPr>
            <a:spLocks noGrp="1"/>
          </p:cNvSpPr>
          <p:nvPr>
            <p:ph type="sldNum" sz="quarter" idx="2"/>
          </p:nvPr>
        </p:nvSpPr>
        <p:spPr>
          <a:xfrm>
            <a:off x="12048594" y="13081000"/>
            <a:ext cx="274114" cy="471924"/>
          </a:xfrm>
        </p:spPr>
        <p:txBody>
          <a:bodyPr/>
          <a:lstStyle/>
          <a:p>
            <a:r>
              <a:rPr lang="de-DE" dirty="0"/>
              <a:t>4</a:t>
            </a:r>
            <a:endParaRPr lang="en-GB" dirty="0"/>
          </a:p>
        </p:txBody>
      </p:sp>
      <p:pic>
        <p:nvPicPr>
          <p:cNvPr id="6" name="Picture 5">
            <a:extLst>
              <a:ext uri="{FF2B5EF4-FFF2-40B4-BE49-F238E27FC236}">
                <a16:creationId xmlns:a16="http://schemas.microsoft.com/office/drawing/2014/main" id="{F929A8CF-433A-46E3-18C0-EB6D3A642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8" name="Picture 7">
            <a:extLst>
              <a:ext uri="{FF2B5EF4-FFF2-40B4-BE49-F238E27FC236}">
                <a16:creationId xmlns:a16="http://schemas.microsoft.com/office/drawing/2014/main" id="{938DFEAE-251F-4087-84DD-7C641E83D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5942" y="4341675"/>
            <a:ext cx="10379858" cy="6053548"/>
          </a:xfrm>
          <a:prstGeom prst="rect">
            <a:avLst/>
          </a:prstGeom>
        </p:spPr>
      </p:pic>
      <p:sp>
        <p:nvSpPr>
          <p:cNvPr id="4" name="TextBox 3">
            <a:extLst>
              <a:ext uri="{FF2B5EF4-FFF2-40B4-BE49-F238E27FC236}">
                <a16:creationId xmlns:a16="http://schemas.microsoft.com/office/drawing/2014/main" id="{851C2CAA-1F48-6C83-27C0-5EFAD67C9BC2}"/>
              </a:ext>
            </a:extLst>
          </p:cNvPr>
          <p:cNvSpPr txBox="1"/>
          <p:nvPr/>
        </p:nvSpPr>
        <p:spPr>
          <a:xfrm>
            <a:off x="11470439" y="10508123"/>
            <a:ext cx="1377086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1800" i="1" dirty="0">
                <a:solidFill>
                  <a:schemeClr val="bg1"/>
                </a:solidFill>
              </a:rPr>
              <a:t>Figure 2: Highway</a:t>
            </a:r>
            <a:endParaRPr lang="en-GB" sz="1800" i="1" dirty="0"/>
          </a:p>
        </p:txBody>
      </p:sp>
    </p:spTree>
    <p:extLst>
      <p:ext uri="{BB962C8B-B14F-4D97-AF65-F5344CB8AC3E}">
        <p14:creationId xmlns:p14="http://schemas.microsoft.com/office/powerpoint/2010/main" val="411279113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92A7-75D0-8E81-AAE0-34039B88CF2D}"/>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996DD8FE-5E75-D166-F905-C98BCC47ABFD}"/>
              </a:ext>
            </a:extLst>
          </p:cNvPr>
          <p:cNvSpPr/>
          <p:nvPr/>
        </p:nvSpPr>
        <p:spPr>
          <a:xfrm>
            <a:off x="12571208" y="1308543"/>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F401E6E7-8143-2131-AF87-DEFD5E6A96BD}"/>
              </a:ext>
            </a:extLst>
          </p:cNvPr>
          <p:cNvSpPr/>
          <p:nvPr/>
        </p:nvSpPr>
        <p:spPr>
          <a:xfrm>
            <a:off x="-210224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66183462-0F16-58F5-5BD5-DE19F2AC7B88}"/>
              </a:ext>
            </a:extLst>
          </p:cNvPr>
          <p:cNvSpPr/>
          <p:nvPr/>
        </p:nvSpPr>
        <p:spPr>
          <a:xfrm>
            <a:off x="1527615" y="6882566"/>
            <a:ext cx="13527100" cy="235128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Subfield of machine learning</a:t>
            </a:r>
          </a:p>
          <a:p>
            <a:pPr marL="342900" indent="-342900">
              <a:lnSpc>
                <a:spcPct val="150000"/>
              </a:lnSpc>
              <a:buFont typeface="Wingdings" panose="05000000000000000000" pitchFamily="2" charset="2"/>
              <a:buChar char="q"/>
            </a:pPr>
            <a:r>
              <a:rPr lang="en-GB" dirty="0">
                <a:solidFill>
                  <a:schemeClr val="bg1"/>
                </a:solidFill>
              </a:rPr>
              <a:t> Uses multi-layer neural networks</a:t>
            </a:r>
          </a:p>
          <a:p>
            <a:pPr marL="342900" indent="-342900">
              <a:lnSpc>
                <a:spcPct val="150000"/>
              </a:lnSpc>
              <a:buFont typeface="Wingdings" panose="05000000000000000000" pitchFamily="2" charset="2"/>
              <a:buChar char="q"/>
            </a:pPr>
            <a:r>
              <a:rPr lang="en-GB" dirty="0">
                <a:solidFill>
                  <a:schemeClr val="bg1"/>
                </a:solidFill>
              </a:rPr>
              <a:t> Learns complex, non-linear patterns </a:t>
            </a:r>
          </a:p>
          <a:p>
            <a:pPr marL="342900" indent="-342900">
              <a:lnSpc>
                <a:spcPct val="150000"/>
              </a:lnSpc>
              <a:buFont typeface="Wingdings" panose="05000000000000000000" pitchFamily="2" charset="2"/>
              <a:buChar char="q"/>
            </a:pPr>
            <a:r>
              <a:rPr lang="en-GB" dirty="0">
                <a:solidFill>
                  <a:schemeClr val="bg1"/>
                </a:solidFill>
              </a:rPr>
              <a:t>Particularly effective for time-series data</a:t>
            </a:r>
          </a:p>
        </p:txBody>
      </p:sp>
      <p:sp>
        <p:nvSpPr>
          <p:cNvPr id="142" name="Shape 142">
            <a:extLst>
              <a:ext uri="{FF2B5EF4-FFF2-40B4-BE49-F238E27FC236}">
                <a16:creationId xmlns:a16="http://schemas.microsoft.com/office/drawing/2014/main" id="{EA757FA1-CEB1-C700-3D13-1EBB6B8B5E98}"/>
              </a:ext>
            </a:extLst>
          </p:cNvPr>
          <p:cNvSpPr/>
          <p:nvPr/>
        </p:nvSpPr>
        <p:spPr>
          <a:xfrm>
            <a:off x="1527615" y="3423342"/>
            <a:ext cx="7721501" cy="213391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WHAT IS DEEP LEARNING?</a:t>
            </a:r>
          </a:p>
        </p:txBody>
      </p:sp>
      <p:sp>
        <p:nvSpPr>
          <p:cNvPr id="143" name="Shape 143">
            <a:extLst>
              <a:ext uri="{FF2B5EF4-FFF2-40B4-BE49-F238E27FC236}">
                <a16:creationId xmlns:a16="http://schemas.microsoft.com/office/drawing/2014/main" id="{3E563E97-133D-834B-26B3-1CD8DB248F4A}"/>
              </a:ext>
            </a:extLst>
          </p:cNvPr>
          <p:cNvSpPr/>
          <p:nvPr/>
        </p:nvSpPr>
        <p:spPr>
          <a:xfrm>
            <a:off x="1527616" y="6316799"/>
            <a:ext cx="9473759" cy="45902"/>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D04DC533-5B83-E082-4991-29DD30ADC56C}"/>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B09BC17F-6C2F-D66D-BEF6-72F216CD4C99}"/>
              </a:ext>
            </a:extLst>
          </p:cNvPr>
          <p:cNvSpPr>
            <a:spLocks noGrp="1"/>
          </p:cNvSpPr>
          <p:nvPr>
            <p:ph type="sldNum" sz="quarter" idx="2"/>
          </p:nvPr>
        </p:nvSpPr>
        <p:spPr>
          <a:xfrm>
            <a:off x="12048594" y="13081000"/>
            <a:ext cx="274114" cy="471924"/>
          </a:xfrm>
        </p:spPr>
        <p:txBody>
          <a:bodyPr/>
          <a:lstStyle/>
          <a:p>
            <a:r>
              <a:rPr lang="de-DE" dirty="0"/>
              <a:t>5</a:t>
            </a:r>
            <a:endParaRPr lang="en-GB" dirty="0"/>
          </a:p>
        </p:txBody>
      </p:sp>
      <p:pic>
        <p:nvPicPr>
          <p:cNvPr id="6" name="Picture 5">
            <a:extLst>
              <a:ext uri="{FF2B5EF4-FFF2-40B4-BE49-F238E27FC236}">
                <a16:creationId xmlns:a16="http://schemas.microsoft.com/office/drawing/2014/main" id="{00F0993E-ED9A-FBDC-5500-EE1E521C7C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7" name="Picture 6">
            <a:extLst>
              <a:ext uri="{FF2B5EF4-FFF2-40B4-BE49-F238E27FC236}">
                <a16:creationId xmlns:a16="http://schemas.microsoft.com/office/drawing/2014/main" id="{1CDB99D7-C54D-F2CD-F31A-C79751771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7218" y="3536555"/>
            <a:ext cx="10875130" cy="5537549"/>
          </a:xfrm>
          <a:prstGeom prst="rect">
            <a:avLst/>
          </a:prstGeom>
        </p:spPr>
      </p:pic>
      <p:sp>
        <p:nvSpPr>
          <p:cNvPr id="10" name="TextBox 9">
            <a:extLst>
              <a:ext uri="{FF2B5EF4-FFF2-40B4-BE49-F238E27FC236}">
                <a16:creationId xmlns:a16="http://schemas.microsoft.com/office/drawing/2014/main" id="{FFFA6983-C427-F948-1D83-FB241DE32ECE}"/>
              </a:ext>
            </a:extLst>
          </p:cNvPr>
          <p:cNvSpPr txBox="1"/>
          <p:nvPr/>
        </p:nvSpPr>
        <p:spPr>
          <a:xfrm>
            <a:off x="11579351" y="9438811"/>
            <a:ext cx="1377086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1600" i="1" dirty="0">
                <a:solidFill>
                  <a:schemeClr val="bg1"/>
                </a:solidFill>
              </a:rPr>
              <a:t>Figure 3: Deep learning</a:t>
            </a:r>
            <a:endParaRPr lang="en-GB" sz="1600" i="1" dirty="0"/>
          </a:p>
        </p:txBody>
      </p:sp>
    </p:spTree>
    <p:extLst>
      <p:ext uri="{BB962C8B-B14F-4D97-AF65-F5344CB8AC3E}">
        <p14:creationId xmlns:p14="http://schemas.microsoft.com/office/powerpoint/2010/main" val="218929428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544C7-6AB9-1DB2-3FF8-A0556081E878}"/>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08B41CA4-56C8-B013-7ABA-F2351ED5CC4C}"/>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FBB564F9-C9BF-DB12-DA46-DF0CB3DD3B50}"/>
              </a:ext>
            </a:extLst>
          </p:cNvPr>
          <p:cNvSpPr/>
          <p:nvPr/>
        </p:nvSpPr>
        <p:spPr>
          <a:xfrm>
            <a:off x="-1901079" y="5878150"/>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r>
              <a:rPr lang="en-GB" sz="2000" i="1" dirty="0">
                <a:solidFill>
                  <a:schemeClr val="bg1"/>
                </a:solidFill>
              </a:rPr>
              <a:t>Figure 4: Neural Network</a:t>
            </a:r>
            <a:endParaRPr lang="en-GB" sz="2000" i="1" dirty="0"/>
          </a:p>
        </p:txBody>
      </p:sp>
      <p:sp>
        <p:nvSpPr>
          <p:cNvPr id="141" name="Shape 141">
            <a:extLst>
              <a:ext uri="{FF2B5EF4-FFF2-40B4-BE49-F238E27FC236}">
                <a16:creationId xmlns:a16="http://schemas.microsoft.com/office/drawing/2014/main" id="{6E43156D-E018-4043-F676-236F121905B3}"/>
              </a:ext>
            </a:extLst>
          </p:cNvPr>
          <p:cNvSpPr/>
          <p:nvPr/>
        </p:nvSpPr>
        <p:spPr>
          <a:xfrm>
            <a:off x="1527615" y="6594025"/>
            <a:ext cx="13527100" cy="292836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Inputs → Hidden layers → Outputs</a:t>
            </a:r>
          </a:p>
          <a:p>
            <a:pPr marL="342900" indent="-342900">
              <a:lnSpc>
                <a:spcPct val="150000"/>
              </a:lnSpc>
              <a:buFont typeface="Wingdings" panose="05000000000000000000" pitchFamily="2" charset="2"/>
              <a:buChar char="q"/>
            </a:pPr>
            <a:r>
              <a:rPr lang="en-GB" dirty="0">
                <a:solidFill>
                  <a:schemeClr val="bg1"/>
                </a:solidFill>
              </a:rPr>
              <a:t> Weights and biases</a:t>
            </a:r>
          </a:p>
          <a:p>
            <a:pPr marL="342900" indent="-342900">
              <a:lnSpc>
                <a:spcPct val="150000"/>
              </a:lnSpc>
              <a:buFont typeface="Wingdings" panose="05000000000000000000" pitchFamily="2" charset="2"/>
              <a:buChar char="q"/>
            </a:pPr>
            <a:r>
              <a:rPr lang="en-GB" dirty="0">
                <a:solidFill>
                  <a:schemeClr val="bg1"/>
                </a:solidFill>
              </a:rPr>
              <a:t> Learning via backpropagation</a:t>
            </a:r>
          </a:p>
          <a:p>
            <a:pPr marL="342900" indent="-342900">
              <a:lnSpc>
                <a:spcPct val="150000"/>
              </a:lnSpc>
              <a:buFont typeface="Wingdings" panose="05000000000000000000" pitchFamily="2" charset="2"/>
              <a:buChar char="q"/>
            </a:pPr>
            <a:endParaRPr lang="en-GB" dirty="0">
              <a:solidFill>
                <a:schemeClr val="bg1"/>
              </a:solidFill>
            </a:endParaRPr>
          </a:p>
          <a:p>
            <a:pPr>
              <a:lnSpc>
                <a:spcPct val="150000"/>
              </a:lnSpc>
            </a:pPr>
            <a:endParaRPr lang="en-GB" dirty="0">
              <a:solidFill>
                <a:schemeClr val="bg1"/>
              </a:solidFill>
            </a:endParaRPr>
          </a:p>
        </p:txBody>
      </p:sp>
      <p:sp>
        <p:nvSpPr>
          <p:cNvPr id="142" name="Shape 142">
            <a:extLst>
              <a:ext uri="{FF2B5EF4-FFF2-40B4-BE49-F238E27FC236}">
                <a16:creationId xmlns:a16="http://schemas.microsoft.com/office/drawing/2014/main" id="{68A5166A-C635-C3E7-3819-21DC525E0121}"/>
              </a:ext>
            </a:extLst>
          </p:cNvPr>
          <p:cNvSpPr/>
          <p:nvPr/>
        </p:nvSpPr>
        <p:spPr>
          <a:xfrm>
            <a:off x="1527615" y="3254535"/>
            <a:ext cx="7721501" cy="213391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NEURAL NETWORK BASICS</a:t>
            </a:r>
          </a:p>
        </p:txBody>
      </p:sp>
      <p:sp>
        <p:nvSpPr>
          <p:cNvPr id="143" name="Shape 143">
            <a:extLst>
              <a:ext uri="{FF2B5EF4-FFF2-40B4-BE49-F238E27FC236}">
                <a16:creationId xmlns:a16="http://schemas.microsoft.com/office/drawing/2014/main" id="{4505AFB7-C225-4F35-BBA1-9C0E66E9FF8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5F6C2112-D60A-43F1-DE70-7C1DDA2F448C}"/>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5F232BF6-25C7-292C-CDB2-CA68F34CBEAC}"/>
              </a:ext>
            </a:extLst>
          </p:cNvPr>
          <p:cNvSpPr>
            <a:spLocks noGrp="1"/>
          </p:cNvSpPr>
          <p:nvPr>
            <p:ph type="sldNum" sz="quarter" idx="2"/>
          </p:nvPr>
        </p:nvSpPr>
        <p:spPr>
          <a:xfrm>
            <a:off x="12048594" y="13081000"/>
            <a:ext cx="274114" cy="471924"/>
          </a:xfrm>
        </p:spPr>
        <p:txBody>
          <a:bodyPr/>
          <a:lstStyle/>
          <a:p>
            <a:r>
              <a:rPr lang="de-DE" dirty="0"/>
              <a:t>6</a:t>
            </a:r>
            <a:endParaRPr lang="en-GB" dirty="0"/>
          </a:p>
        </p:txBody>
      </p:sp>
      <p:pic>
        <p:nvPicPr>
          <p:cNvPr id="6" name="Picture 5">
            <a:extLst>
              <a:ext uri="{FF2B5EF4-FFF2-40B4-BE49-F238E27FC236}">
                <a16:creationId xmlns:a16="http://schemas.microsoft.com/office/drawing/2014/main" id="{2616DDFF-56B7-96E9-2F79-09E3CF3A5B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 name="Picture 2">
            <a:extLst>
              <a:ext uri="{FF2B5EF4-FFF2-40B4-BE49-F238E27FC236}">
                <a16:creationId xmlns:a16="http://schemas.microsoft.com/office/drawing/2014/main" id="{35408AE0-98D0-200E-D6F8-4BA462B51E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14775" y="3254535"/>
            <a:ext cx="6915074" cy="6634270"/>
          </a:xfrm>
          <a:prstGeom prst="rect">
            <a:avLst/>
          </a:prstGeom>
        </p:spPr>
      </p:pic>
    </p:spTree>
    <p:extLst>
      <p:ext uri="{BB962C8B-B14F-4D97-AF65-F5344CB8AC3E}">
        <p14:creationId xmlns:p14="http://schemas.microsoft.com/office/powerpoint/2010/main" val="239954312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D4C8-F543-9D6F-33C2-8B2BCA87C275}"/>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43F3A23A-D8BC-A62A-EB5F-9BCBBE2808A3}"/>
              </a:ext>
            </a:extLst>
          </p:cNvPr>
          <p:cNvSpPr/>
          <p:nvPr/>
        </p:nvSpPr>
        <p:spPr>
          <a:xfrm>
            <a:off x="11759168" y="1534637"/>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dirty="0"/>
          </a:p>
        </p:txBody>
      </p:sp>
      <p:sp>
        <p:nvSpPr>
          <p:cNvPr id="140" name="Shape 140">
            <a:extLst>
              <a:ext uri="{FF2B5EF4-FFF2-40B4-BE49-F238E27FC236}">
                <a16:creationId xmlns:a16="http://schemas.microsoft.com/office/drawing/2014/main" id="{8F1C1B39-E633-3BC5-B749-7FCE5B1DFC1E}"/>
              </a:ext>
            </a:extLst>
          </p:cNvPr>
          <p:cNvSpPr/>
          <p:nvPr/>
        </p:nvSpPr>
        <p:spPr>
          <a:xfrm>
            <a:off x="-2449720" y="5735842"/>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7AFE35BE-14A4-CD28-18AA-E80B0BC11CA6}"/>
              </a:ext>
            </a:extLst>
          </p:cNvPr>
          <p:cNvSpPr/>
          <p:nvPr/>
        </p:nvSpPr>
        <p:spPr>
          <a:xfrm>
            <a:off x="1527615" y="6594026"/>
            <a:ext cx="13527100" cy="292836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Forward pass → prediction</a:t>
            </a:r>
          </a:p>
          <a:p>
            <a:pPr marL="342900" indent="-342900">
              <a:lnSpc>
                <a:spcPct val="150000"/>
              </a:lnSpc>
              <a:buFont typeface="Wingdings" panose="05000000000000000000" pitchFamily="2" charset="2"/>
              <a:buChar char="q"/>
            </a:pPr>
            <a:r>
              <a:rPr lang="en-GB" dirty="0">
                <a:solidFill>
                  <a:schemeClr val="bg1"/>
                </a:solidFill>
              </a:rPr>
              <a:t>Compute loss</a:t>
            </a:r>
          </a:p>
          <a:p>
            <a:pPr marL="342900" indent="-342900">
              <a:lnSpc>
                <a:spcPct val="150000"/>
              </a:lnSpc>
              <a:buFont typeface="Wingdings" panose="05000000000000000000" pitchFamily="2" charset="2"/>
              <a:buChar char="q"/>
            </a:pPr>
            <a:r>
              <a:rPr lang="en-GB" dirty="0">
                <a:solidFill>
                  <a:schemeClr val="bg1"/>
                </a:solidFill>
              </a:rPr>
              <a:t>Backpropagation</a:t>
            </a:r>
          </a:p>
          <a:p>
            <a:pPr marL="342900" indent="-342900">
              <a:lnSpc>
                <a:spcPct val="150000"/>
              </a:lnSpc>
              <a:buFont typeface="Wingdings" panose="05000000000000000000" pitchFamily="2" charset="2"/>
              <a:buChar char="q"/>
            </a:pPr>
            <a:r>
              <a:rPr lang="en-GB" dirty="0">
                <a:solidFill>
                  <a:schemeClr val="bg1"/>
                </a:solidFill>
              </a:rPr>
              <a:t>Update weights using optimizer</a:t>
            </a:r>
          </a:p>
          <a:p>
            <a:pPr marL="342900" indent="-342900">
              <a:lnSpc>
                <a:spcPct val="150000"/>
              </a:lnSpc>
              <a:buFont typeface="Wingdings" panose="05000000000000000000" pitchFamily="2" charset="2"/>
              <a:buChar char="q"/>
            </a:pPr>
            <a:r>
              <a:rPr lang="en-GB" dirty="0">
                <a:solidFill>
                  <a:schemeClr val="bg1"/>
                </a:solidFill>
              </a:rPr>
              <a:t>Repeat until convergence</a:t>
            </a:r>
          </a:p>
        </p:txBody>
      </p:sp>
      <p:sp>
        <p:nvSpPr>
          <p:cNvPr id="142" name="Shape 142">
            <a:extLst>
              <a:ext uri="{FF2B5EF4-FFF2-40B4-BE49-F238E27FC236}">
                <a16:creationId xmlns:a16="http://schemas.microsoft.com/office/drawing/2014/main" id="{BF7C82CE-B86E-D58B-A841-2AE1837ADFE7}"/>
              </a:ext>
            </a:extLst>
          </p:cNvPr>
          <p:cNvSpPr/>
          <p:nvPr/>
        </p:nvSpPr>
        <p:spPr>
          <a:xfrm>
            <a:off x="1031862" y="4292104"/>
            <a:ext cx="8297424" cy="1118255"/>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LEARNING PROCESS</a:t>
            </a:r>
          </a:p>
        </p:txBody>
      </p:sp>
      <p:sp>
        <p:nvSpPr>
          <p:cNvPr id="143" name="Shape 143">
            <a:extLst>
              <a:ext uri="{FF2B5EF4-FFF2-40B4-BE49-F238E27FC236}">
                <a16:creationId xmlns:a16="http://schemas.microsoft.com/office/drawing/2014/main" id="{FE328B7A-9606-2F87-C16D-447A7994CC8C}"/>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18C969E7-FAA6-B4ED-A39F-620715C91FFD}"/>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F508F762-27A2-A7EC-AD50-C13ED43636A5}"/>
              </a:ext>
            </a:extLst>
          </p:cNvPr>
          <p:cNvSpPr>
            <a:spLocks noGrp="1"/>
          </p:cNvSpPr>
          <p:nvPr>
            <p:ph type="sldNum" sz="quarter" idx="2"/>
          </p:nvPr>
        </p:nvSpPr>
        <p:spPr>
          <a:xfrm>
            <a:off x="12048594" y="13081000"/>
            <a:ext cx="274114" cy="471924"/>
          </a:xfrm>
        </p:spPr>
        <p:txBody>
          <a:bodyPr/>
          <a:lstStyle/>
          <a:p>
            <a:r>
              <a:rPr lang="de-DE" dirty="0"/>
              <a:t>7</a:t>
            </a:r>
            <a:endParaRPr lang="en-GB" dirty="0"/>
          </a:p>
        </p:txBody>
      </p:sp>
      <p:pic>
        <p:nvPicPr>
          <p:cNvPr id="6" name="Picture 5">
            <a:extLst>
              <a:ext uri="{FF2B5EF4-FFF2-40B4-BE49-F238E27FC236}">
                <a16:creationId xmlns:a16="http://schemas.microsoft.com/office/drawing/2014/main" id="{DC74E834-1F77-8CA3-ADFD-9520824E1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4" name="Picture 3">
            <a:extLst>
              <a:ext uri="{FF2B5EF4-FFF2-40B4-BE49-F238E27FC236}">
                <a16:creationId xmlns:a16="http://schemas.microsoft.com/office/drawing/2014/main" id="{10F1DB62-4CC7-B877-C1A3-17EB3C17585F}"/>
              </a:ext>
            </a:extLst>
          </p:cNvPr>
          <p:cNvPicPr>
            <a:picLocks noChangeAspect="1"/>
          </p:cNvPicPr>
          <p:nvPr/>
        </p:nvPicPr>
        <p:blipFill>
          <a:blip r:embed="rId3">
            <a:extLst>
              <a:ext uri="{28A0092B-C50C-407E-A947-70E740481C1C}">
                <a14:useLocalDpi xmlns:a14="http://schemas.microsoft.com/office/drawing/2010/main" val="0"/>
              </a:ext>
            </a:extLst>
          </a:blip>
          <a:srcRect l="-412" t="39939" r="412" b="17540"/>
          <a:stretch>
            <a:fillRect/>
          </a:stretch>
        </p:blipFill>
        <p:spPr>
          <a:xfrm>
            <a:off x="12704064" y="4342792"/>
            <a:ext cx="10924489" cy="3483850"/>
          </a:xfrm>
          <a:prstGeom prst="rect">
            <a:avLst/>
          </a:prstGeom>
        </p:spPr>
      </p:pic>
      <p:sp>
        <p:nvSpPr>
          <p:cNvPr id="7" name="TextBox 6">
            <a:extLst>
              <a:ext uri="{FF2B5EF4-FFF2-40B4-BE49-F238E27FC236}">
                <a16:creationId xmlns:a16="http://schemas.microsoft.com/office/drawing/2014/main" id="{83A2C1DF-0277-0AA9-2BBC-B9DAC16E5C98}"/>
              </a:ext>
            </a:extLst>
          </p:cNvPr>
          <p:cNvSpPr txBox="1"/>
          <p:nvPr/>
        </p:nvSpPr>
        <p:spPr>
          <a:xfrm>
            <a:off x="11143488" y="7944210"/>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5: steps to solving a Problem with deep learning</a:t>
            </a:r>
            <a:endParaRPr lang="en-GB" sz="2400" i="1" dirty="0"/>
          </a:p>
        </p:txBody>
      </p:sp>
    </p:spTree>
    <p:extLst>
      <p:ext uri="{BB962C8B-B14F-4D97-AF65-F5344CB8AC3E}">
        <p14:creationId xmlns:p14="http://schemas.microsoft.com/office/powerpoint/2010/main" val="176423633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8E508-548F-FEA4-ABBE-FE4DF78AEC13}"/>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ED1ED08B-CC2E-2699-AF71-A09D4AEBA64C}"/>
              </a:ext>
            </a:extLst>
          </p:cNvPr>
          <p:cNvSpPr/>
          <p:nvPr/>
        </p:nvSpPr>
        <p:spPr>
          <a:xfrm>
            <a:off x="14387798"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05C2891C-1646-538D-8B6D-FE70103424D6}"/>
              </a:ext>
            </a:extLst>
          </p:cNvPr>
          <p:cNvSpPr/>
          <p:nvPr/>
        </p:nvSpPr>
        <p:spPr>
          <a:xfrm>
            <a:off x="-2596023" y="5756494"/>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33465585-B946-6285-F698-2FCAB3D2498C}"/>
              </a:ext>
            </a:extLst>
          </p:cNvPr>
          <p:cNvSpPr/>
          <p:nvPr/>
        </p:nvSpPr>
        <p:spPr>
          <a:xfrm>
            <a:off x="1088703" y="8117452"/>
            <a:ext cx="13527100" cy="1774204"/>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Traffic speed is a continuous variable</a:t>
            </a:r>
          </a:p>
          <a:p>
            <a:pPr marL="342900" indent="-342900">
              <a:lnSpc>
                <a:spcPct val="150000"/>
              </a:lnSpc>
              <a:buFont typeface="Wingdings" panose="05000000000000000000" pitchFamily="2" charset="2"/>
              <a:buChar char="q"/>
            </a:pPr>
            <a:r>
              <a:rPr lang="en-GB" dirty="0">
                <a:solidFill>
                  <a:schemeClr val="bg1"/>
                </a:solidFill>
              </a:rPr>
              <a:t>Speed directly affects braking behaviour</a:t>
            </a:r>
          </a:p>
          <a:p>
            <a:pPr marL="342900" indent="-342900">
              <a:lnSpc>
                <a:spcPct val="150000"/>
              </a:lnSpc>
              <a:buFont typeface="Wingdings" panose="05000000000000000000" pitchFamily="2" charset="2"/>
              <a:buChar char="q"/>
            </a:pPr>
            <a:r>
              <a:rPr lang="en-GB" dirty="0">
                <a:solidFill>
                  <a:schemeClr val="bg1"/>
                </a:solidFill>
              </a:rPr>
              <a:t>Predicting speed is more stable and reliable</a:t>
            </a:r>
          </a:p>
        </p:txBody>
      </p:sp>
      <p:sp>
        <p:nvSpPr>
          <p:cNvPr id="142" name="Shape 142">
            <a:extLst>
              <a:ext uri="{FF2B5EF4-FFF2-40B4-BE49-F238E27FC236}">
                <a16:creationId xmlns:a16="http://schemas.microsoft.com/office/drawing/2014/main" id="{80EC8EA8-A0AD-0C0E-F765-1C90E9E33565}"/>
              </a:ext>
            </a:extLst>
          </p:cNvPr>
          <p:cNvSpPr/>
          <p:nvPr/>
        </p:nvSpPr>
        <p:spPr>
          <a:xfrm>
            <a:off x="1303776" y="3035416"/>
            <a:ext cx="7721501" cy="213391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WHY REGRESSION IS THE MAIN TASK</a:t>
            </a:r>
          </a:p>
        </p:txBody>
      </p:sp>
      <p:sp>
        <p:nvSpPr>
          <p:cNvPr id="143" name="Shape 143">
            <a:extLst>
              <a:ext uri="{FF2B5EF4-FFF2-40B4-BE49-F238E27FC236}">
                <a16:creationId xmlns:a16="http://schemas.microsoft.com/office/drawing/2014/main" id="{11852787-9405-3A7A-6091-8E98AB5D890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339D3F93-31D8-C1BE-A931-65C6CDB2DF60}"/>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C67174CC-7173-9E4B-77E5-BEFC3255AE25}"/>
              </a:ext>
            </a:extLst>
          </p:cNvPr>
          <p:cNvSpPr>
            <a:spLocks noGrp="1"/>
          </p:cNvSpPr>
          <p:nvPr>
            <p:ph type="sldNum" sz="quarter" idx="2"/>
          </p:nvPr>
        </p:nvSpPr>
        <p:spPr>
          <a:xfrm>
            <a:off x="12048594" y="13081000"/>
            <a:ext cx="274114" cy="471924"/>
          </a:xfrm>
        </p:spPr>
        <p:txBody>
          <a:bodyPr/>
          <a:lstStyle/>
          <a:p>
            <a:r>
              <a:rPr lang="de-DE" dirty="0"/>
              <a:t>8</a:t>
            </a:r>
            <a:endParaRPr lang="en-GB" dirty="0"/>
          </a:p>
        </p:txBody>
      </p:sp>
      <p:pic>
        <p:nvPicPr>
          <p:cNvPr id="6" name="Picture 5">
            <a:extLst>
              <a:ext uri="{FF2B5EF4-FFF2-40B4-BE49-F238E27FC236}">
                <a16:creationId xmlns:a16="http://schemas.microsoft.com/office/drawing/2014/main" id="{66E8132C-C800-1A24-8C06-691AC24280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074" name="Picture 2" descr="Speedometer0002 - Photo, Image">
            <a:extLst>
              <a:ext uri="{FF2B5EF4-FFF2-40B4-BE49-F238E27FC236}">
                <a16:creationId xmlns:a16="http://schemas.microsoft.com/office/drawing/2014/main" id="{2FB40FF2-E3BB-3A06-7DBF-BE67796647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5386" y="4322439"/>
            <a:ext cx="8994959" cy="59966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3E9F29-39F2-48A7-3B37-9FA0B9C515D3}"/>
              </a:ext>
            </a:extLst>
          </p:cNvPr>
          <p:cNvSpPr txBox="1"/>
          <p:nvPr/>
        </p:nvSpPr>
        <p:spPr>
          <a:xfrm>
            <a:off x="11362944" y="10675405"/>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6: Speed </a:t>
            </a:r>
            <a:endParaRPr lang="en-GB" sz="2400" i="1" dirty="0"/>
          </a:p>
        </p:txBody>
      </p:sp>
    </p:spTree>
    <p:extLst>
      <p:ext uri="{BB962C8B-B14F-4D97-AF65-F5344CB8AC3E}">
        <p14:creationId xmlns:p14="http://schemas.microsoft.com/office/powerpoint/2010/main" val="3357403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74AB0-F843-B1CC-EABD-F714773356BD}"/>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0522201F-22B5-1140-9DB7-84196AD49A7B}"/>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2E667D14-9126-D7BE-91C0-64F7C1F39EA0}"/>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C934357C-C5D4-2932-B06C-C11887C5B214}"/>
              </a:ext>
            </a:extLst>
          </p:cNvPr>
          <p:cNvSpPr/>
          <p:nvPr/>
        </p:nvSpPr>
        <p:spPr>
          <a:xfrm>
            <a:off x="1527615" y="6882566"/>
            <a:ext cx="13527100" cy="235128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Harsh braking events are very rare</a:t>
            </a:r>
          </a:p>
          <a:p>
            <a:pPr marL="342900" indent="-342900">
              <a:lnSpc>
                <a:spcPct val="150000"/>
              </a:lnSpc>
              <a:buFont typeface="Wingdings" panose="05000000000000000000" pitchFamily="2" charset="2"/>
              <a:buChar char="q"/>
            </a:pPr>
            <a:r>
              <a:rPr lang="en-GB" dirty="0">
                <a:solidFill>
                  <a:schemeClr val="bg1"/>
                </a:solidFill>
              </a:rPr>
              <a:t>Severe class imbalance</a:t>
            </a:r>
          </a:p>
          <a:p>
            <a:pPr marL="342900" indent="-342900">
              <a:lnSpc>
                <a:spcPct val="150000"/>
              </a:lnSpc>
              <a:buFont typeface="Wingdings" panose="05000000000000000000" pitchFamily="2" charset="2"/>
              <a:buChar char="q"/>
            </a:pPr>
            <a:r>
              <a:rPr lang="en-GB" dirty="0">
                <a:solidFill>
                  <a:schemeClr val="bg1"/>
                </a:solidFill>
              </a:rPr>
              <a:t>Leads to misleading accuracy</a:t>
            </a:r>
          </a:p>
          <a:p>
            <a:pPr marL="342900" indent="-342900">
              <a:lnSpc>
                <a:spcPct val="150000"/>
              </a:lnSpc>
              <a:buFont typeface="Wingdings" panose="05000000000000000000" pitchFamily="2" charset="2"/>
              <a:buChar char="q"/>
            </a:pPr>
            <a:r>
              <a:rPr lang="en-GB" dirty="0">
                <a:solidFill>
                  <a:schemeClr val="bg1"/>
                </a:solidFill>
              </a:rPr>
              <a:t>Indirect optimization is more effective</a:t>
            </a:r>
          </a:p>
        </p:txBody>
      </p:sp>
      <p:sp>
        <p:nvSpPr>
          <p:cNvPr id="142" name="Shape 142">
            <a:extLst>
              <a:ext uri="{FF2B5EF4-FFF2-40B4-BE49-F238E27FC236}">
                <a16:creationId xmlns:a16="http://schemas.microsoft.com/office/drawing/2014/main" id="{88C0C784-9ECC-0CFF-83AC-7AF1FBB32F68}"/>
              </a:ext>
            </a:extLst>
          </p:cNvPr>
          <p:cNvSpPr/>
          <p:nvPr/>
        </p:nvSpPr>
        <p:spPr>
          <a:xfrm>
            <a:off x="1607785" y="3254535"/>
            <a:ext cx="9136415" cy="2133918"/>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WHY NOT DIRECT BRAKING PREDICTION?</a:t>
            </a:r>
          </a:p>
        </p:txBody>
      </p:sp>
      <p:sp>
        <p:nvSpPr>
          <p:cNvPr id="143" name="Shape 143">
            <a:extLst>
              <a:ext uri="{FF2B5EF4-FFF2-40B4-BE49-F238E27FC236}">
                <a16:creationId xmlns:a16="http://schemas.microsoft.com/office/drawing/2014/main" id="{CCE4A18D-8D73-D6DF-7607-F6E027521C87}"/>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C3BB80B4-A448-BFA6-1E65-64F833EF6E7E}"/>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5752FFA2-D580-C01D-5EB2-8CF9325AEFC5}"/>
              </a:ext>
            </a:extLst>
          </p:cNvPr>
          <p:cNvSpPr>
            <a:spLocks noGrp="1"/>
          </p:cNvSpPr>
          <p:nvPr>
            <p:ph type="sldNum" sz="quarter" idx="2"/>
          </p:nvPr>
        </p:nvSpPr>
        <p:spPr>
          <a:xfrm>
            <a:off x="12048594" y="13081000"/>
            <a:ext cx="274114" cy="471924"/>
          </a:xfrm>
        </p:spPr>
        <p:txBody>
          <a:bodyPr/>
          <a:lstStyle/>
          <a:p>
            <a:r>
              <a:rPr lang="de-DE" dirty="0"/>
              <a:t>9</a:t>
            </a:r>
            <a:endParaRPr lang="en-GB" dirty="0"/>
          </a:p>
        </p:txBody>
      </p:sp>
      <p:pic>
        <p:nvPicPr>
          <p:cNvPr id="6" name="Picture 5">
            <a:extLst>
              <a:ext uri="{FF2B5EF4-FFF2-40B4-BE49-F238E27FC236}">
                <a16:creationId xmlns:a16="http://schemas.microsoft.com/office/drawing/2014/main" id="{F219378D-1475-8D26-834C-C4E8B60786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207755739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73039-7089-2E4A-6420-DC2B7501E943}"/>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3FB85F2B-3CD5-D408-70D2-08E0A4BF9E26}"/>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mc:AlternateContent xmlns:mc="http://schemas.openxmlformats.org/markup-compatibility/2006">
        <mc:Choice xmlns:a14="http://schemas.microsoft.com/office/drawing/2010/main" Requires="a14">
          <p:sp>
            <p:nvSpPr>
              <p:cNvPr id="140" name="Shape 140">
                <a:extLst>
                  <a:ext uri="{FF2B5EF4-FFF2-40B4-BE49-F238E27FC236}">
                    <a16:creationId xmlns:a16="http://schemas.microsoft.com/office/drawing/2014/main" id="{F7B209BA-93BB-AF21-BC52-562A7C42D333}"/>
                  </a:ext>
                </a:extLst>
              </p:cNvPr>
              <p:cNvSpPr/>
              <p:nvPr/>
            </p:nvSpPr>
            <p:spPr>
              <a:xfrm>
                <a:off x="-1864503" y="5756494"/>
                <a:ext cx="27539951" cy="10210701"/>
              </a:xfrm>
              <a:prstGeom prst="roundRect">
                <a:avLst>
                  <a:gd name="adj" fmla="val 1866"/>
                </a:avLst>
              </a:prstGeom>
              <a:solidFill>
                <a:srgbClr val="0070C0"/>
              </a:solidFill>
              <a:ln w="12700">
                <a:miter lim="400000"/>
              </a:ln>
            </p:spPr>
            <p:txBody>
              <a:bodyPr lIns="0" tIns="0" rIns="0" bIns="0" anchor="ctr"/>
              <a:lstStyle/>
              <a:p>
                <a:pPr>
                  <a:lnSpc>
                    <a:spcPct val="150000"/>
                  </a:lnSpc>
                </a:pPr>
                <a:r>
                  <a:rPr lang="en-GB" sz="3600" dirty="0">
                    <a:solidFill>
                      <a:schemeClr val="bg1"/>
                    </a:solidFill>
                    <a:latin typeface="Bodoni MT Condensed" panose="02070606080606020203" pitchFamily="18" charset="0"/>
                  </a:rPr>
                  <a:t>ht​=LSTM(</a:t>
                </a:r>
                <a:r>
                  <a:rPr lang="en-GB" sz="3600" dirty="0" err="1">
                    <a:solidFill>
                      <a:schemeClr val="bg1"/>
                    </a:solidFill>
                    <a:latin typeface="Bodoni MT Condensed" panose="02070606080606020203" pitchFamily="18" charset="0"/>
                  </a:rPr>
                  <a:t>xt</a:t>
                </a:r>
                <a:r>
                  <a:rPr lang="en-GB" sz="3600" dirty="0">
                    <a:solidFill>
                      <a:schemeClr val="bg1"/>
                    </a:solidFill>
                    <a:latin typeface="Bodoni MT Condensed" panose="02070606080606020203" pitchFamily="18" charset="0"/>
                  </a:rPr>
                  <a:t>​,ht−1​) </a:t>
                </a:r>
              </a:p>
              <a:p>
                <a:pPr>
                  <a:lnSpc>
                    <a:spcPct val="150000"/>
                  </a:lnSpc>
                </a:pPr>
                <a14:m>
                  <m:oMath xmlns:m="http://schemas.openxmlformats.org/officeDocument/2006/math">
                    <m:sSub>
                      <m:sSubPr>
                        <m:ctrlPr>
                          <a:rPr lang="ar-AE" sz="3600">
                            <a:solidFill>
                              <a:schemeClr val="bg1"/>
                            </a:solidFill>
                          </a:rPr>
                        </m:ctrlPr>
                      </m:sSubPr>
                      <m:e>
                        <m:r>
                          <a:rPr lang="ar-AE" sz="3600">
                            <a:solidFill>
                              <a:schemeClr val="bg1"/>
                            </a:solidFill>
                          </a:rPr>
                          <m:t>𝑥</m:t>
                        </m:r>
                      </m:e>
                      <m:sub>
                        <m:r>
                          <a:rPr lang="ar-AE" sz="3600">
                            <a:solidFill>
                              <a:schemeClr val="bg1"/>
                            </a:solidFill>
                          </a:rPr>
                          <m:t>𝑡</m:t>
                        </m:r>
                      </m:sub>
                    </m:sSub>
                  </m:oMath>
                </a14:m>
                <a:r>
                  <a:rPr lang="ar-AE" sz="3600" dirty="0">
                    <a:solidFill>
                      <a:schemeClr val="bg1"/>
                    </a:solidFill>
                    <a:latin typeface="Bodoni MT Condensed" panose="02070606080606020203" pitchFamily="18" charset="0"/>
                  </a:rPr>
                  <a:t>: </a:t>
                </a:r>
                <a:r>
                  <a:rPr lang="en-GB" sz="3600" dirty="0">
                    <a:solidFill>
                      <a:schemeClr val="bg1"/>
                    </a:solidFill>
                    <a:latin typeface="Bodoni MT Condensed" panose="02070606080606020203" pitchFamily="18" charset="0"/>
                  </a:rPr>
                  <a:t>traffic state at time t</a:t>
                </a:r>
              </a:p>
              <a:p>
                <a:pPr>
                  <a:lnSpc>
                    <a:spcPct val="150000"/>
                  </a:lnSpc>
                </a:pPr>
                <a14:m>
                  <m:oMath xmlns:m="http://schemas.openxmlformats.org/officeDocument/2006/math">
                    <m:sSub>
                      <m:sSubPr>
                        <m:ctrlPr>
                          <a:rPr lang="ar-AE" sz="3600">
                            <a:solidFill>
                              <a:schemeClr val="bg1"/>
                            </a:solidFill>
                          </a:rPr>
                        </m:ctrlPr>
                      </m:sSubPr>
                      <m:e>
                        <m:r>
                          <a:rPr lang="ar-AE" sz="3600">
                            <a:solidFill>
                              <a:schemeClr val="bg1"/>
                            </a:solidFill>
                          </a:rPr>
                          <m:t>h</m:t>
                        </m:r>
                      </m:e>
                      <m:sub>
                        <m:r>
                          <a:rPr lang="ar-AE" sz="3600">
                            <a:solidFill>
                              <a:schemeClr val="bg1"/>
                            </a:solidFill>
                          </a:rPr>
                          <m:t>𝑡</m:t>
                        </m:r>
                      </m:sub>
                    </m:sSub>
                  </m:oMath>
                </a14:m>
                <a:r>
                  <a:rPr lang="ar-AE" sz="3600" dirty="0">
                    <a:solidFill>
                      <a:schemeClr val="bg1"/>
                    </a:solidFill>
                    <a:latin typeface="Bodoni MT Condensed" panose="02070606080606020203" pitchFamily="18" charset="0"/>
                  </a:rPr>
                  <a:t>: </a:t>
                </a:r>
                <a:r>
                  <a:rPr lang="en-GB" sz="3600" dirty="0">
                    <a:solidFill>
                      <a:schemeClr val="bg1"/>
                    </a:solidFill>
                    <a:latin typeface="Bodoni MT Condensed" panose="02070606080606020203" pitchFamily="18" charset="0"/>
                  </a:rPr>
                  <a:t>hidden state (memory)</a:t>
                </a:r>
                <a:endParaRPr lang="en-GB" sz="5400" dirty="0">
                  <a:solidFill>
                    <a:schemeClr val="bg1"/>
                  </a:solidFill>
                  <a:latin typeface="Bodoni MT Condensed" panose="02070606080606020203" pitchFamily="18" charset="0"/>
                </a:endParaRPr>
              </a:p>
            </p:txBody>
          </p:sp>
        </mc:Choice>
        <mc:Fallback>
          <p:sp>
            <p:nvSpPr>
              <p:cNvPr id="140" name="Shape 140">
                <a:extLst>
                  <a:ext uri="{FF2B5EF4-FFF2-40B4-BE49-F238E27FC236}">
                    <a16:creationId xmlns:a16="http://schemas.microsoft.com/office/drawing/2014/main" id="{F7B209BA-93BB-AF21-BC52-562A7C42D333}"/>
                  </a:ext>
                </a:extLst>
              </p:cNvPr>
              <p:cNvSpPr>
                <a:spLocks noRot="1" noChangeAspect="1" noMove="1" noResize="1" noEditPoints="1" noAdjustHandles="1" noChangeArrowheads="1" noChangeShapeType="1" noTextEdit="1"/>
              </p:cNvSpPr>
              <p:nvPr/>
            </p:nvSpPr>
            <p:spPr>
              <a:xfrm>
                <a:off x="-1864503" y="5756494"/>
                <a:ext cx="27539951" cy="10210701"/>
              </a:xfrm>
              <a:prstGeom prst="roundRect">
                <a:avLst>
                  <a:gd name="adj" fmla="val 1866"/>
                </a:avLst>
              </a:prstGeom>
              <a:blipFill>
                <a:blip r:embed="rId2"/>
                <a:stretch>
                  <a:fillRect/>
                </a:stretch>
              </a:blipFill>
              <a:ln w="12700">
                <a:miter lim="400000"/>
              </a:ln>
            </p:spPr>
            <p:txBody>
              <a:bodyPr/>
              <a:lstStyle/>
              <a:p>
                <a:r>
                  <a:rPr lang="en-GB">
                    <a:noFill/>
                  </a:rPr>
                  <a:t> </a:t>
                </a:r>
              </a:p>
            </p:txBody>
          </p:sp>
        </mc:Fallback>
      </mc:AlternateContent>
      <p:sp>
        <p:nvSpPr>
          <p:cNvPr id="141" name="Shape 141">
            <a:extLst>
              <a:ext uri="{FF2B5EF4-FFF2-40B4-BE49-F238E27FC236}">
                <a16:creationId xmlns:a16="http://schemas.microsoft.com/office/drawing/2014/main" id="{DA6AAA9E-F9D5-A6A0-A9DB-A2878AA0FA14}"/>
              </a:ext>
            </a:extLst>
          </p:cNvPr>
          <p:cNvSpPr/>
          <p:nvPr/>
        </p:nvSpPr>
        <p:spPr>
          <a:xfrm>
            <a:off x="1527615" y="6882566"/>
            <a:ext cx="13527100" cy="235128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Designed for sequential data</a:t>
            </a:r>
          </a:p>
          <a:p>
            <a:pPr marL="342900" indent="-342900">
              <a:lnSpc>
                <a:spcPct val="150000"/>
              </a:lnSpc>
              <a:buFont typeface="Wingdings" panose="05000000000000000000" pitchFamily="2" charset="2"/>
              <a:buChar char="q"/>
            </a:pPr>
            <a:r>
              <a:rPr lang="en-GB" dirty="0">
                <a:solidFill>
                  <a:schemeClr val="bg1"/>
                </a:solidFill>
              </a:rPr>
              <a:t>Captures temporal dependencies</a:t>
            </a:r>
          </a:p>
          <a:p>
            <a:pPr marL="342900" indent="-342900">
              <a:lnSpc>
                <a:spcPct val="150000"/>
              </a:lnSpc>
              <a:buFont typeface="Wingdings" panose="05000000000000000000" pitchFamily="2" charset="2"/>
              <a:buChar char="q"/>
            </a:pPr>
            <a:r>
              <a:rPr lang="en-GB" dirty="0">
                <a:solidFill>
                  <a:schemeClr val="bg1"/>
                </a:solidFill>
              </a:rPr>
              <a:t>Handles traffic evolution over time</a:t>
            </a:r>
          </a:p>
          <a:p>
            <a:pPr marL="342900" indent="-342900">
              <a:lnSpc>
                <a:spcPct val="150000"/>
              </a:lnSpc>
              <a:buFont typeface="Wingdings" panose="05000000000000000000" pitchFamily="2" charset="2"/>
              <a:buChar char="q"/>
            </a:pPr>
            <a:r>
              <a:rPr lang="en-GB" dirty="0">
                <a:solidFill>
                  <a:schemeClr val="bg1"/>
                </a:solidFill>
              </a:rPr>
              <a:t>Suitable for time-series forecasting</a:t>
            </a:r>
          </a:p>
        </p:txBody>
      </p:sp>
      <p:sp>
        <p:nvSpPr>
          <p:cNvPr id="142" name="Shape 142">
            <a:extLst>
              <a:ext uri="{FF2B5EF4-FFF2-40B4-BE49-F238E27FC236}">
                <a16:creationId xmlns:a16="http://schemas.microsoft.com/office/drawing/2014/main" id="{B480613E-E953-DA7C-B793-48291D7ACB73}"/>
              </a:ext>
            </a:extLst>
          </p:cNvPr>
          <p:cNvSpPr/>
          <p:nvPr/>
        </p:nvSpPr>
        <p:spPr>
          <a:xfrm>
            <a:off x="1560951" y="4638239"/>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Why LSTM?</a:t>
            </a:r>
            <a:endParaRPr sz="6600" b="1" dirty="0"/>
          </a:p>
        </p:txBody>
      </p:sp>
      <p:sp>
        <p:nvSpPr>
          <p:cNvPr id="143" name="Shape 143">
            <a:extLst>
              <a:ext uri="{FF2B5EF4-FFF2-40B4-BE49-F238E27FC236}">
                <a16:creationId xmlns:a16="http://schemas.microsoft.com/office/drawing/2014/main" id="{354D35E0-6872-9110-A332-52EFD5F1CB18}"/>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67E203F1-1FE4-FBC3-6D2A-317113139297}"/>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DE3D2D4D-7C16-8E22-CF83-9E97C1FF54A6}"/>
              </a:ext>
            </a:extLst>
          </p:cNvPr>
          <p:cNvSpPr>
            <a:spLocks noGrp="1"/>
          </p:cNvSpPr>
          <p:nvPr>
            <p:ph type="sldNum" sz="quarter" idx="2"/>
          </p:nvPr>
        </p:nvSpPr>
        <p:spPr>
          <a:xfrm>
            <a:off x="11962833" y="13081000"/>
            <a:ext cx="445636" cy="471924"/>
          </a:xfrm>
        </p:spPr>
        <p:txBody>
          <a:bodyPr/>
          <a:lstStyle/>
          <a:p>
            <a:r>
              <a:rPr lang="de-DE" dirty="0"/>
              <a:t>10</a:t>
            </a:r>
            <a:endParaRPr lang="en-GB" dirty="0"/>
          </a:p>
        </p:txBody>
      </p:sp>
      <p:pic>
        <p:nvPicPr>
          <p:cNvPr id="6" name="Picture 5">
            <a:extLst>
              <a:ext uri="{FF2B5EF4-FFF2-40B4-BE49-F238E27FC236}">
                <a16:creationId xmlns:a16="http://schemas.microsoft.com/office/drawing/2014/main" id="{EF3F452A-EA88-6D49-E88F-8B8EE51082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 name="Picture 2">
            <a:extLst>
              <a:ext uri="{FF2B5EF4-FFF2-40B4-BE49-F238E27FC236}">
                <a16:creationId xmlns:a16="http://schemas.microsoft.com/office/drawing/2014/main" id="{DABE2067-F65D-BCC7-623A-00BC9BA2A47E}"/>
              </a:ext>
            </a:extLst>
          </p:cNvPr>
          <p:cNvPicPr>
            <a:picLocks noChangeAspect="1"/>
          </p:cNvPicPr>
          <p:nvPr/>
        </p:nvPicPr>
        <p:blipFill>
          <a:blip r:embed="rId4"/>
          <a:stretch>
            <a:fillRect/>
          </a:stretch>
        </p:blipFill>
        <p:spPr>
          <a:xfrm>
            <a:off x="15880790" y="4337704"/>
            <a:ext cx="7768190" cy="3884095"/>
          </a:xfrm>
          <a:prstGeom prst="rect">
            <a:avLst/>
          </a:prstGeom>
        </p:spPr>
      </p:pic>
      <p:sp>
        <p:nvSpPr>
          <p:cNvPr id="4" name="TextBox 3">
            <a:extLst>
              <a:ext uri="{FF2B5EF4-FFF2-40B4-BE49-F238E27FC236}">
                <a16:creationId xmlns:a16="http://schemas.microsoft.com/office/drawing/2014/main" id="{EE0954B5-20F7-A272-A4E9-96E0E57793A5}"/>
              </a:ext>
            </a:extLst>
          </p:cNvPr>
          <p:cNvSpPr txBox="1"/>
          <p:nvPr/>
        </p:nvSpPr>
        <p:spPr>
          <a:xfrm>
            <a:off x="12588240" y="9003018"/>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7: LSTM Cell</a:t>
            </a:r>
            <a:endParaRPr lang="en-GB" sz="2400" i="1" dirty="0"/>
          </a:p>
        </p:txBody>
      </p:sp>
    </p:spTree>
    <p:extLst>
      <p:ext uri="{BB962C8B-B14F-4D97-AF65-F5344CB8AC3E}">
        <p14:creationId xmlns:p14="http://schemas.microsoft.com/office/powerpoint/2010/main" val="408830152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Shape 166"/>
          <p:cNvSpPr/>
          <p:nvPr/>
        </p:nvSpPr>
        <p:spPr>
          <a:xfrm>
            <a:off x="11421005" y="3901947"/>
            <a:ext cx="11020622" cy="1640449"/>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10000"/>
              </a:lnSpc>
              <a:defRPr sz="2300" spc="-115">
                <a:latin typeface="Cantata One"/>
                <a:ea typeface="Cantata One"/>
                <a:cs typeface="Cantata One"/>
                <a:sym typeface="Cantata One"/>
              </a:defRPr>
            </a:lvl1pPr>
          </a:lstStyle>
          <a:p>
            <a:pPr marL="342900" indent="-342900">
              <a:buFont typeface="Wingdings" panose="05000000000000000000" pitchFamily="2" charset="2"/>
              <a:buChar char="q"/>
            </a:pPr>
            <a:r>
              <a:rPr lang="en-GB" dirty="0"/>
              <a:t>Naturalistic driving dataset</a:t>
            </a:r>
          </a:p>
          <a:p>
            <a:pPr marL="342900" indent="-342900">
              <a:buFont typeface="Wingdings" panose="05000000000000000000" pitchFamily="2" charset="2"/>
              <a:buChar char="q"/>
            </a:pPr>
            <a:r>
              <a:rPr lang="en-GB" dirty="0"/>
              <a:t>German highways</a:t>
            </a:r>
          </a:p>
          <a:p>
            <a:pPr marL="342900" indent="-342900">
              <a:buFont typeface="Wingdings" panose="05000000000000000000" pitchFamily="2" charset="2"/>
              <a:buChar char="q"/>
            </a:pPr>
            <a:r>
              <a:rPr lang="en-GB" dirty="0"/>
              <a:t>Drone-based recordings</a:t>
            </a:r>
          </a:p>
          <a:p>
            <a:pPr marL="342900" indent="-342900">
              <a:buFont typeface="Wingdings" panose="05000000000000000000" pitchFamily="2" charset="2"/>
              <a:buChar char="q"/>
            </a:pPr>
            <a:r>
              <a:rPr lang="en-GB" dirty="0"/>
              <a:t>High temporal resolution</a:t>
            </a:r>
          </a:p>
        </p:txBody>
      </p:sp>
      <p:sp>
        <p:nvSpPr>
          <p:cNvPr id="167" name="Shape 167"/>
          <p:cNvSpPr/>
          <p:nvPr/>
        </p:nvSpPr>
        <p:spPr>
          <a:xfrm>
            <a:off x="11370205" y="2156614"/>
            <a:ext cx="10286006" cy="1136721"/>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algn="l" defTabSz="457200">
              <a:lnSpc>
                <a:spcPct val="120000"/>
              </a:lnSpc>
              <a:defRPr sz="6000" spc="-180">
                <a:solidFill>
                  <a:srgbClr val="5E5E5E"/>
                </a:solidFill>
                <a:latin typeface="Cantata One"/>
                <a:ea typeface="Cantata One"/>
                <a:cs typeface="Cantata One"/>
                <a:sym typeface="Cantata One"/>
              </a:defRPr>
            </a:pPr>
            <a:r>
              <a:rPr lang="en-GB" sz="6000" b="1" dirty="0">
                <a:solidFill>
                  <a:schemeClr val="tx1"/>
                </a:solidFill>
                <a:sym typeface="Cantata One"/>
              </a:rPr>
              <a:t>DATASET: HIGHD</a:t>
            </a:r>
            <a:endParaRPr lang="en-GB" b="1" dirty="0">
              <a:solidFill>
                <a:schemeClr val="tx1"/>
              </a:solidFill>
            </a:endParaRPr>
          </a:p>
        </p:txBody>
      </p:sp>
      <p:sp>
        <p:nvSpPr>
          <p:cNvPr id="168" name="Shape 168"/>
          <p:cNvSpPr/>
          <p:nvPr/>
        </p:nvSpPr>
        <p:spPr>
          <a:xfrm>
            <a:off x="-635000" y="-330200"/>
            <a:ext cx="11152086" cy="16380421"/>
          </a:xfrm>
          <a:prstGeom prst="rect">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69" name="Shape 169"/>
          <p:cNvSpPr/>
          <p:nvPr/>
        </p:nvSpPr>
        <p:spPr>
          <a:xfrm>
            <a:off x="11441509" y="3496659"/>
            <a:ext cx="4476453" cy="126802"/>
          </a:xfrm>
          <a:custGeom>
            <a:avLst/>
            <a:gdLst/>
            <a:ahLst/>
            <a:cxnLst>
              <a:cxn ang="0">
                <a:pos x="wd2" y="hd2"/>
              </a:cxn>
              <a:cxn ang="5400000">
                <a:pos x="wd2" y="hd2"/>
              </a:cxn>
              <a:cxn ang="10800000">
                <a:pos x="wd2" y="hd2"/>
              </a:cxn>
              <a:cxn ang="16200000">
                <a:pos x="wd2" y="hd2"/>
              </a:cxn>
            </a:cxnLst>
            <a:rect l="0" t="0" r="r" b="b"/>
            <a:pathLst>
              <a:path w="21600" h="21600" extrusionOk="0">
                <a:moveTo>
                  <a:pt x="21294" y="0"/>
                </a:moveTo>
                <a:lnTo>
                  <a:pt x="306" y="0"/>
                </a:lnTo>
                <a:cubicBezTo>
                  <a:pt x="306" y="0"/>
                  <a:pt x="306" y="0"/>
                  <a:pt x="306" y="0"/>
                </a:cubicBezTo>
                <a:cubicBezTo>
                  <a:pt x="137" y="0"/>
                  <a:pt x="0" y="4835"/>
                  <a:pt x="0" y="10800"/>
                </a:cubicBezTo>
                <a:cubicBezTo>
                  <a:pt x="0" y="10800"/>
                  <a:pt x="0" y="10800"/>
                  <a:pt x="0" y="10800"/>
                </a:cubicBezTo>
                <a:cubicBezTo>
                  <a:pt x="0" y="10800"/>
                  <a:pt x="0" y="10800"/>
                  <a:pt x="0" y="10800"/>
                </a:cubicBezTo>
                <a:cubicBezTo>
                  <a:pt x="0" y="16765"/>
                  <a:pt x="137" y="21600"/>
                  <a:pt x="306" y="21600"/>
                </a:cubicBezTo>
                <a:cubicBezTo>
                  <a:pt x="306" y="21600"/>
                  <a:pt x="306" y="21600"/>
                  <a:pt x="306" y="21600"/>
                </a:cubicBezTo>
                <a:lnTo>
                  <a:pt x="21294" y="21600"/>
                </a:lnTo>
                <a:cubicBezTo>
                  <a:pt x="21294" y="21600"/>
                  <a:pt x="21294" y="21600"/>
                  <a:pt x="21294" y="21600"/>
                </a:cubicBezTo>
                <a:cubicBezTo>
                  <a:pt x="21463" y="21600"/>
                  <a:pt x="21600" y="16765"/>
                  <a:pt x="21600" y="10800"/>
                </a:cubicBezTo>
                <a:cubicBezTo>
                  <a:pt x="21600" y="10800"/>
                  <a:pt x="21600" y="10800"/>
                  <a:pt x="21600" y="10800"/>
                </a:cubicBezTo>
                <a:cubicBezTo>
                  <a:pt x="21600" y="10800"/>
                  <a:pt x="21600" y="10800"/>
                  <a:pt x="21600" y="10800"/>
                </a:cubicBezTo>
                <a:cubicBezTo>
                  <a:pt x="21600" y="4835"/>
                  <a:pt x="21463" y="0"/>
                  <a:pt x="21294" y="0"/>
                </a:cubicBezTo>
                <a:cubicBezTo>
                  <a:pt x="21294" y="0"/>
                  <a:pt x="21294" y="0"/>
                  <a:pt x="21294" y="0"/>
                </a:cubicBezTo>
                <a:close/>
              </a:path>
            </a:pathLst>
          </a:custGeom>
          <a:solidFill>
            <a:srgbClr val="000000"/>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5812BD61-426E-3580-B03F-5DF81C16A1CD}"/>
              </a:ext>
            </a:extLst>
          </p:cNvPr>
          <p:cNvSpPr>
            <a:spLocks noGrp="1"/>
          </p:cNvSpPr>
          <p:nvPr>
            <p:ph type="sldNum" sz="quarter" idx="2"/>
          </p:nvPr>
        </p:nvSpPr>
        <p:spPr/>
        <p:txBody>
          <a:bodyPr/>
          <a:lstStyle/>
          <a:p>
            <a:fld id="{86CB4B4D-7CA3-9044-876B-883B54F8677D}" type="slidenum">
              <a:rPr lang="en-GB" smtClean="0"/>
              <a:t>11</a:t>
            </a:fld>
            <a:endParaRPr lang="en-GB"/>
          </a:p>
        </p:txBody>
      </p:sp>
      <p:pic>
        <p:nvPicPr>
          <p:cNvPr id="4" name="HighD Title Video - YouTube (720p)">
            <a:hlinkClick r:id="" action="ppaction://media"/>
            <a:extLst>
              <a:ext uri="{FF2B5EF4-FFF2-40B4-BE49-F238E27FC236}">
                <a16:creationId xmlns:a16="http://schemas.microsoft.com/office/drawing/2014/main" id="{E9C1CCBC-08AE-0F55-3623-CADE82E01130}"/>
              </a:ext>
            </a:extLst>
          </p:cNvPr>
          <p:cNvPicPr>
            <a:picLocks noChangeAspect="1"/>
          </p:cNvPicPr>
          <p:nvPr>
            <a:videoFile r:link="rId1"/>
            <p:extLst>
              <p:ext uri="{DAA4B4D4-6D71-4841-9C94-3DE7FCFB9230}">
                <p14:media xmlns:p14="http://schemas.microsoft.com/office/powerpoint/2010/main" r:embed="rId2">
                  <p14:trim end="9063"/>
                </p14:media>
              </p:ext>
            </p:extLst>
          </p:nvPr>
        </p:nvPicPr>
        <p:blipFill>
          <a:blip r:embed="rId4"/>
          <a:stretch>
            <a:fillRect/>
          </a:stretch>
        </p:blipFill>
        <p:spPr>
          <a:xfrm>
            <a:off x="4207754" y="7296912"/>
            <a:ext cx="19318323" cy="4892466"/>
          </a:xfrm>
          <a:prstGeom prst="rect">
            <a:avLst/>
          </a:prstGeom>
        </p:spPr>
      </p:pic>
      <p:pic>
        <p:nvPicPr>
          <p:cNvPr id="3" name="Picture 2">
            <a:extLst>
              <a:ext uri="{FF2B5EF4-FFF2-40B4-BE49-F238E27FC236}">
                <a16:creationId xmlns:a16="http://schemas.microsoft.com/office/drawing/2014/main" id="{7EEA79A1-9702-82A7-ECD1-FB6729A348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
        <p:nvSpPr>
          <p:cNvPr id="7" name="TextBox 6">
            <a:extLst>
              <a:ext uri="{FF2B5EF4-FFF2-40B4-BE49-F238E27FC236}">
                <a16:creationId xmlns:a16="http://schemas.microsoft.com/office/drawing/2014/main" id="{9F460CA5-A2A0-0796-B945-A119CFC0E36B}"/>
              </a:ext>
            </a:extLst>
          </p:cNvPr>
          <p:cNvSpPr txBox="1"/>
          <p:nvPr/>
        </p:nvSpPr>
        <p:spPr>
          <a:xfrm>
            <a:off x="-1944389" y="5727156"/>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7: High D Dataset</a:t>
            </a:r>
            <a:endParaRPr lang="en-GB" sz="2400" i="1"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0C628-DFB4-C629-736E-0D466A035DDF}"/>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6094E57B-2D85-6FDD-8886-2C901F64054A}"/>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1F589F95-0FE5-DAB2-E12A-A606EFFFEDF9}"/>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CE665988-CB72-56BF-E751-B5ABCAA9109F}"/>
              </a:ext>
            </a:extLst>
          </p:cNvPr>
          <p:cNvSpPr/>
          <p:nvPr/>
        </p:nvSpPr>
        <p:spPr>
          <a:xfrm>
            <a:off x="1527615" y="6305486"/>
            <a:ext cx="13527100" cy="3505447"/>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tracks.csv → vehicle trajectories</a:t>
            </a:r>
          </a:p>
          <a:p>
            <a:pPr marL="342900" indent="-342900">
              <a:lnSpc>
                <a:spcPct val="150000"/>
              </a:lnSpc>
              <a:buFont typeface="Wingdings" panose="05000000000000000000" pitchFamily="2" charset="2"/>
              <a:buChar char="q"/>
            </a:pPr>
            <a:r>
              <a:rPr lang="en-GB" dirty="0">
                <a:solidFill>
                  <a:schemeClr val="bg1"/>
                </a:solidFill>
              </a:rPr>
              <a:t>tracksMeta.csv → vehicle properties</a:t>
            </a:r>
          </a:p>
          <a:p>
            <a:pPr marL="342900" indent="-342900">
              <a:lnSpc>
                <a:spcPct val="150000"/>
              </a:lnSpc>
              <a:buFont typeface="Wingdings" panose="05000000000000000000" pitchFamily="2" charset="2"/>
              <a:buChar char="q"/>
            </a:pPr>
            <a:r>
              <a:rPr lang="en-GB" dirty="0">
                <a:solidFill>
                  <a:schemeClr val="bg1"/>
                </a:solidFill>
              </a:rPr>
              <a:t>recordingMeta.csv → road &amp; recording info</a:t>
            </a:r>
          </a:p>
          <a:p>
            <a:pPr marL="342900" indent="-342900">
              <a:lnSpc>
                <a:spcPct val="150000"/>
              </a:lnSpc>
              <a:buFont typeface="Wingdings" panose="05000000000000000000" pitchFamily="2" charset="2"/>
              <a:buChar char="q"/>
            </a:pPr>
            <a:r>
              <a:rPr lang="en-GB" dirty="0">
                <a:solidFill>
                  <a:schemeClr val="bg1"/>
                </a:solidFill>
              </a:rPr>
              <a:t>Smart cities include :Roads ,Traffic infrastructure </a:t>
            </a:r>
          </a:p>
          <a:p>
            <a:pPr marL="342900" indent="-342900">
              <a:lnSpc>
                <a:spcPct val="150000"/>
              </a:lnSpc>
              <a:buFont typeface="Wingdings" panose="05000000000000000000" pitchFamily="2" charset="2"/>
              <a:buChar char="q"/>
            </a:pPr>
            <a:r>
              <a:rPr lang="en-GB" dirty="0">
                <a:solidFill>
                  <a:schemeClr val="bg1"/>
                </a:solidFill>
              </a:rPr>
              <a:t>Highways are critical urban connectors</a:t>
            </a:r>
          </a:p>
          <a:p>
            <a:pPr marL="342900" indent="-342900">
              <a:lnSpc>
                <a:spcPct val="150000"/>
              </a:lnSpc>
              <a:buFont typeface="Wingdings" panose="05000000000000000000" pitchFamily="2" charset="2"/>
              <a:buChar char="q"/>
            </a:pPr>
            <a:r>
              <a:rPr lang="en-GB" dirty="0">
                <a:solidFill>
                  <a:schemeClr val="bg1"/>
                </a:solidFill>
              </a:rPr>
              <a:t>Traffic efficiency impacts: Safety ,Emissions, Travel time</a:t>
            </a:r>
          </a:p>
        </p:txBody>
      </p:sp>
      <p:sp>
        <p:nvSpPr>
          <p:cNvPr id="142" name="Shape 142">
            <a:extLst>
              <a:ext uri="{FF2B5EF4-FFF2-40B4-BE49-F238E27FC236}">
                <a16:creationId xmlns:a16="http://schemas.microsoft.com/office/drawing/2014/main" id="{A9A52A6D-A821-C16D-038E-28DC804AF7D3}"/>
              </a:ext>
            </a:extLst>
          </p:cNvPr>
          <p:cNvSpPr/>
          <p:nvPr/>
        </p:nvSpPr>
        <p:spPr>
          <a:xfrm>
            <a:off x="1607785" y="1831877"/>
            <a:ext cx="7721501" cy="314958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err="1"/>
              <a:t>HighD</a:t>
            </a:r>
            <a:r>
              <a:rPr lang="en-GB" sz="6600" dirty="0"/>
              <a:t> Files Explained and Why Highway = Smart City?</a:t>
            </a:r>
            <a:endParaRPr sz="6600" b="1" dirty="0"/>
          </a:p>
        </p:txBody>
      </p:sp>
      <p:sp>
        <p:nvSpPr>
          <p:cNvPr id="143" name="Shape 143">
            <a:extLst>
              <a:ext uri="{FF2B5EF4-FFF2-40B4-BE49-F238E27FC236}">
                <a16:creationId xmlns:a16="http://schemas.microsoft.com/office/drawing/2014/main" id="{42570965-2348-D058-ACA9-92C8FA2DD22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C6A51633-0D3C-F0E4-D8A6-FE7EABF9DE3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74939F39-DA07-866D-8CD2-361163B9299A}"/>
              </a:ext>
            </a:extLst>
          </p:cNvPr>
          <p:cNvSpPr>
            <a:spLocks noGrp="1"/>
          </p:cNvSpPr>
          <p:nvPr>
            <p:ph type="sldNum" sz="quarter" idx="2"/>
          </p:nvPr>
        </p:nvSpPr>
        <p:spPr>
          <a:xfrm>
            <a:off x="11962833" y="13081000"/>
            <a:ext cx="445636" cy="471924"/>
          </a:xfrm>
        </p:spPr>
        <p:txBody>
          <a:bodyPr/>
          <a:lstStyle/>
          <a:p>
            <a:r>
              <a:rPr lang="de-DE" dirty="0"/>
              <a:t>12</a:t>
            </a:r>
            <a:endParaRPr lang="en-GB" dirty="0"/>
          </a:p>
        </p:txBody>
      </p:sp>
      <p:pic>
        <p:nvPicPr>
          <p:cNvPr id="6" name="Picture 5">
            <a:extLst>
              <a:ext uri="{FF2B5EF4-FFF2-40B4-BE49-F238E27FC236}">
                <a16:creationId xmlns:a16="http://schemas.microsoft.com/office/drawing/2014/main" id="{875B9F77-E574-2C52-63F8-F95591C3D6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5123" name="Picture 3" descr="Stadt der Zukunft: Welche Smart Cities sind für die Zukunft gerüstet?">
            <a:extLst>
              <a:ext uri="{FF2B5EF4-FFF2-40B4-BE49-F238E27FC236}">
                <a16:creationId xmlns:a16="http://schemas.microsoft.com/office/drawing/2014/main" id="{FC1BC0BC-A440-579C-3BE5-45F06F6D59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64314" y="3291840"/>
            <a:ext cx="8038102" cy="488289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4EA67F-1305-E8EB-582D-8036B4A6E834}"/>
              </a:ext>
            </a:extLst>
          </p:cNvPr>
          <p:cNvSpPr txBox="1"/>
          <p:nvPr/>
        </p:nvSpPr>
        <p:spPr>
          <a:xfrm>
            <a:off x="13452218" y="9033403"/>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8: Smart City</a:t>
            </a:r>
            <a:endParaRPr lang="en-GB" sz="2400" i="1" dirty="0"/>
          </a:p>
        </p:txBody>
      </p:sp>
    </p:spTree>
    <p:extLst>
      <p:ext uri="{BB962C8B-B14F-4D97-AF65-F5344CB8AC3E}">
        <p14:creationId xmlns:p14="http://schemas.microsoft.com/office/powerpoint/2010/main" val="390991145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0E271-D0CF-5046-BF92-997A68751E89}"/>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9916AA8E-C58D-3F70-B7F6-8057386DF627}"/>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4454B673-ABE7-26F5-318F-C26997064DDD}"/>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51BC1DBD-863B-CC35-8413-ABEE7ED9B6D8}"/>
              </a:ext>
            </a:extLst>
          </p:cNvPr>
          <p:cNvSpPr/>
          <p:nvPr/>
        </p:nvSpPr>
        <p:spPr>
          <a:xfrm>
            <a:off x="1527615" y="6305486"/>
            <a:ext cx="13527100" cy="3505447"/>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We aggregate vehicle data into:</a:t>
            </a:r>
          </a:p>
          <a:p>
            <a:pPr marL="342900" indent="-342900">
              <a:lnSpc>
                <a:spcPct val="150000"/>
              </a:lnSpc>
              <a:buFont typeface="Wingdings" panose="05000000000000000000" pitchFamily="2" charset="2"/>
              <a:buChar char="q"/>
            </a:pPr>
            <a:r>
              <a:rPr lang="en-GB" dirty="0">
                <a:solidFill>
                  <a:schemeClr val="bg1"/>
                </a:solidFill>
              </a:rPr>
              <a:t>Lane segment states</a:t>
            </a:r>
          </a:p>
          <a:p>
            <a:pPr marL="342900" indent="-342900">
              <a:lnSpc>
                <a:spcPct val="150000"/>
              </a:lnSpc>
              <a:buFont typeface="Wingdings" panose="05000000000000000000" pitchFamily="2" charset="2"/>
              <a:buChar char="q"/>
            </a:pPr>
            <a:r>
              <a:rPr lang="en-GB" dirty="0">
                <a:solidFill>
                  <a:schemeClr val="bg1"/>
                </a:solidFill>
              </a:rPr>
              <a:t>Fixed time steps</a:t>
            </a:r>
          </a:p>
          <a:p>
            <a:pPr>
              <a:lnSpc>
                <a:spcPct val="150000"/>
              </a:lnSpc>
            </a:pPr>
            <a:r>
              <a:rPr lang="en-GB" dirty="0">
                <a:solidFill>
                  <a:schemeClr val="bg1"/>
                </a:solidFill>
              </a:rPr>
              <a:t>This enables:</a:t>
            </a:r>
          </a:p>
          <a:p>
            <a:pPr marL="342900" indent="-342900">
              <a:lnSpc>
                <a:spcPct val="150000"/>
              </a:lnSpc>
              <a:buFont typeface="Wingdings" panose="05000000000000000000" pitchFamily="2" charset="2"/>
              <a:buChar char="q"/>
            </a:pPr>
            <a:r>
              <a:rPr lang="en-GB" dirty="0">
                <a:solidFill>
                  <a:schemeClr val="bg1"/>
                </a:solidFill>
              </a:rPr>
              <a:t>Traffic-level analysis</a:t>
            </a:r>
          </a:p>
          <a:p>
            <a:pPr marL="342900" indent="-342900">
              <a:lnSpc>
                <a:spcPct val="150000"/>
              </a:lnSpc>
              <a:buFont typeface="Wingdings" panose="05000000000000000000" pitchFamily="2" charset="2"/>
              <a:buChar char="q"/>
            </a:pPr>
            <a:r>
              <a:rPr lang="en-GB" dirty="0">
                <a:solidFill>
                  <a:schemeClr val="bg1"/>
                </a:solidFill>
              </a:rPr>
              <a:t>Control-oriented modelling</a:t>
            </a:r>
          </a:p>
        </p:txBody>
      </p:sp>
      <p:sp>
        <p:nvSpPr>
          <p:cNvPr id="142" name="Shape 142">
            <a:extLst>
              <a:ext uri="{FF2B5EF4-FFF2-40B4-BE49-F238E27FC236}">
                <a16:creationId xmlns:a16="http://schemas.microsoft.com/office/drawing/2014/main" id="{7A96F5CD-BFD2-A914-1509-14FD4A255472}"/>
              </a:ext>
            </a:extLst>
          </p:cNvPr>
          <p:cNvSpPr/>
          <p:nvPr/>
        </p:nvSpPr>
        <p:spPr>
          <a:xfrm>
            <a:off x="1294251" y="2628794"/>
            <a:ext cx="7721501" cy="213391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Traffic State Representation</a:t>
            </a:r>
            <a:endParaRPr sz="6600" b="1" dirty="0"/>
          </a:p>
        </p:txBody>
      </p:sp>
      <p:sp>
        <p:nvSpPr>
          <p:cNvPr id="143" name="Shape 143">
            <a:extLst>
              <a:ext uri="{FF2B5EF4-FFF2-40B4-BE49-F238E27FC236}">
                <a16:creationId xmlns:a16="http://schemas.microsoft.com/office/drawing/2014/main" id="{F5347B89-FA18-D7D5-D3CF-3B413B716FC5}"/>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B5476036-80F3-39C2-F4AA-BA9F9615705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A89ECECC-36FE-2EDB-5481-4F3D8A9CE4D0}"/>
              </a:ext>
            </a:extLst>
          </p:cNvPr>
          <p:cNvSpPr>
            <a:spLocks noGrp="1"/>
          </p:cNvSpPr>
          <p:nvPr>
            <p:ph type="sldNum" sz="quarter" idx="2"/>
          </p:nvPr>
        </p:nvSpPr>
        <p:spPr>
          <a:xfrm>
            <a:off x="11962833" y="13081000"/>
            <a:ext cx="445636" cy="471924"/>
          </a:xfrm>
        </p:spPr>
        <p:txBody>
          <a:bodyPr/>
          <a:lstStyle/>
          <a:p>
            <a:r>
              <a:rPr lang="de-DE" dirty="0"/>
              <a:t>13</a:t>
            </a:r>
            <a:endParaRPr lang="en-GB" dirty="0"/>
          </a:p>
        </p:txBody>
      </p:sp>
      <p:pic>
        <p:nvPicPr>
          <p:cNvPr id="6" name="Picture 5">
            <a:extLst>
              <a:ext uri="{FF2B5EF4-FFF2-40B4-BE49-F238E27FC236}">
                <a16:creationId xmlns:a16="http://schemas.microsoft.com/office/drawing/2014/main" id="{EB87B4A1-B5CE-9E0A-2EEE-0ECBFCFFB1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425326683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1E847-F773-6290-DE12-71CAD3853448}"/>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785EA5A6-DFB9-6C88-11BB-8BDAFF491765}"/>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D6496588-96D8-D6D2-7EB9-17D0F940A95B}"/>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B760C259-3D75-1117-CC6D-DA93DC3DDBC1}"/>
              </a:ext>
            </a:extLst>
          </p:cNvPr>
          <p:cNvSpPr/>
          <p:nvPr/>
        </p:nvSpPr>
        <p:spPr>
          <a:xfrm>
            <a:off x="1527615" y="6594027"/>
            <a:ext cx="13527100" cy="292836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a:lnSpc>
                <a:spcPct val="150000"/>
              </a:lnSpc>
            </a:pPr>
            <a:r>
              <a:rPr lang="en-GB" dirty="0">
                <a:solidFill>
                  <a:schemeClr val="bg1"/>
                </a:solidFill>
              </a:rPr>
              <a:t>For each lane segment:</a:t>
            </a:r>
          </a:p>
          <a:p>
            <a:pPr marL="342900" indent="-342900">
              <a:lnSpc>
                <a:spcPct val="150000"/>
              </a:lnSpc>
              <a:buFont typeface="Wingdings" panose="05000000000000000000" pitchFamily="2" charset="2"/>
              <a:buChar char="q"/>
            </a:pPr>
            <a:r>
              <a:rPr lang="en-GB" dirty="0">
                <a:solidFill>
                  <a:schemeClr val="bg1"/>
                </a:solidFill>
              </a:rPr>
              <a:t>Mean speed</a:t>
            </a:r>
          </a:p>
          <a:p>
            <a:pPr marL="342900" indent="-342900">
              <a:lnSpc>
                <a:spcPct val="150000"/>
              </a:lnSpc>
              <a:buFont typeface="Wingdings" panose="05000000000000000000" pitchFamily="2" charset="2"/>
              <a:buChar char="q"/>
            </a:pPr>
            <a:r>
              <a:rPr lang="en-GB" dirty="0">
                <a:solidFill>
                  <a:schemeClr val="bg1"/>
                </a:solidFill>
              </a:rPr>
              <a:t>Density</a:t>
            </a:r>
          </a:p>
          <a:p>
            <a:pPr marL="342900" indent="-342900">
              <a:lnSpc>
                <a:spcPct val="150000"/>
              </a:lnSpc>
              <a:buFont typeface="Wingdings" panose="05000000000000000000" pitchFamily="2" charset="2"/>
              <a:buChar char="q"/>
            </a:pPr>
            <a:r>
              <a:rPr lang="en-GB" dirty="0">
                <a:solidFill>
                  <a:schemeClr val="bg1"/>
                </a:solidFill>
              </a:rPr>
              <a:t>Flow</a:t>
            </a:r>
          </a:p>
          <a:p>
            <a:pPr marL="342900" indent="-342900">
              <a:lnSpc>
                <a:spcPct val="150000"/>
              </a:lnSpc>
              <a:buFont typeface="Wingdings" panose="05000000000000000000" pitchFamily="2" charset="2"/>
              <a:buChar char="q"/>
            </a:pPr>
            <a:r>
              <a:rPr lang="en-GB" dirty="0">
                <a:solidFill>
                  <a:schemeClr val="bg1"/>
                </a:solidFill>
              </a:rPr>
              <a:t>Lane-change activity</a:t>
            </a:r>
          </a:p>
        </p:txBody>
      </p:sp>
      <p:sp>
        <p:nvSpPr>
          <p:cNvPr id="142" name="Shape 142">
            <a:extLst>
              <a:ext uri="{FF2B5EF4-FFF2-40B4-BE49-F238E27FC236}">
                <a16:creationId xmlns:a16="http://schemas.microsoft.com/office/drawing/2014/main" id="{13AB63EE-8163-3472-7253-F2257AC2D8A4}"/>
              </a:ext>
            </a:extLst>
          </p:cNvPr>
          <p:cNvSpPr/>
          <p:nvPr/>
        </p:nvSpPr>
        <p:spPr>
          <a:xfrm>
            <a:off x="1560951" y="4638239"/>
            <a:ext cx="7721501" cy="11182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Extracted Features</a:t>
            </a:r>
            <a:endParaRPr sz="6600" b="1" dirty="0"/>
          </a:p>
        </p:txBody>
      </p:sp>
      <p:sp>
        <p:nvSpPr>
          <p:cNvPr id="143" name="Shape 143">
            <a:extLst>
              <a:ext uri="{FF2B5EF4-FFF2-40B4-BE49-F238E27FC236}">
                <a16:creationId xmlns:a16="http://schemas.microsoft.com/office/drawing/2014/main" id="{CAA57F2D-932A-889B-AAEA-38F46EE0B871}"/>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23B730ED-1886-AE8D-A084-0B8A94A37F68}"/>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BFAA3598-E516-58ED-D690-5A1B1398E7B0}"/>
              </a:ext>
            </a:extLst>
          </p:cNvPr>
          <p:cNvSpPr>
            <a:spLocks noGrp="1"/>
          </p:cNvSpPr>
          <p:nvPr>
            <p:ph type="sldNum" sz="quarter" idx="2"/>
          </p:nvPr>
        </p:nvSpPr>
        <p:spPr>
          <a:xfrm>
            <a:off x="11962833" y="13081000"/>
            <a:ext cx="445636" cy="471924"/>
          </a:xfrm>
        </p:spPr>
        <p:txBody>
          <a:bodyPr/>
          <a:lstStyle/>
          <a:p>
            <a:r>
              <a:rPr lang="de-DE" dirty="0"/>
              <a:t>14</a:t>
            </a:r>
            <a:endParaRPr lang="en-GB" dirty="0"/>
          </a:p>
        </p:txBody>
      </p:sp>
      <p:pic>
        <p:nvPicPr>
          <p:cNvPr id="6" name="Picture 5">
            <a:extLst>
              <a:ext uri="{FF2B5EF4-FFF2-40B4-BE49-F238E27FC236}">
                <a16:creationId xmlns:a16="http://schemas.microsoft.com/office/drawing/2014/main" id="{E37361FC-8DC8-2CF2-DDA1-F64FECE8CF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5" name="Picture 4">
            <a:extLst>
              <a:ext uri="{FF2B5EF4-FFF2-40B4-BE49-F238E27FC236}">
                <a16:creationId xmlns:a16="http://schemas.microsoft.com/office/drawing/2014/main" id="{683D4FF3-CEB1-6CE9-35D2-97568309DC4A}"/>
              </a:ext>
            </a:extLst>
          </p:cNvPr>
          <p:cNvPicPr>
            <a:picLocks noChangeAspect="1"/>
          </p:cNvPicPr>
          <p:nvPr/>
        </p:nvPicPr>
        <p:blipFill>
          <a:blip r:embed="rId3"/>
          <a:stretch>
            <a:fillRect/>
          </a:stretch>
        </p:blipFill>
        <p:spPr>
          <a:xfrm>
            <a:off x="12916381" y="6315075"/>
            <a:ext cx="11170631" cy="4296396"/>
          </a:xfrm>
          <a:prstGeom prst="rect">
            <a:avLst/>
          </a:prstGeom>
        </p:spPr>
      </p:pic>
      <p:sp>
        <p:nvSpPr>
          <p:cNvPr id="7" name="TextBox 6">
            <a:extLst>
              <a:ext uri="{FF2B5EF4-FFF2-40B4-BE49-F238E27FC236}">
                <a16:creationId xmlns:a16="http://schemas.microsoft.com/office/drawing/2014/main" id="{EFD5A2A0-062D-DC6A-7EA5-F82C1ED034DB}"/>
              </a:ext>
            </a:extLst>
          </p:cNvPr>
          <p:cNvSpPr txBox="1"/>
          <p:nvPr/>
        </p:nvSpPr>
        <p:spPr>
          <a:xfrm>
            <a:off x="11399520" y="10792865"/>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9: Data</a:t>
            </a:r>
            <a:endParaRPr lang="en-GB" sz="2400" i="1" dirty="0"/>
          </a:p>
        </p:txBody>
      </p:sp>
    </p:spTree>
    <p:extLst>
      <p:ext uri="{BB962C8B-B14F-4D97-AF65-F5344CB8AC3E}">
        <p14:creationId xmlns:p14="http://schemas.microsoft.com/office/powerpoint/2010/main" val="3687008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8F96A-3431-5599-3E00-296BBBB47E14}"/>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0D896104-6794-141D-8A40-5EC5150AAC1F}"/>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182CEFB6-4953-64E6-212D-CF39F2AD5286}"/>
              </a:ext>
            </a:extLst>
          </p:cNvPr>
          <p:cNvSpPr/>
          <p:nvPr/>
        </p:nvSpPr>
        <p:spPr>
          <a:xfrm>
            <a:off x="-2522871" y="5756494"/>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1F774AAB-DB25-456D-3CDA-4CE0877BA929}"/>
              </a:ext>
            </a:extLst>
          </p:cNvPr>
          <p:cNvSpPr/>
          <p:nvPr/>
        </p:nvSpPr>
        <p:spPr>
          <a:xfrm>
            <a:off x="1527615" y="6882568"/>
            <a:ext cx="13527100" cy="235128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80% training / 20% validation</a:t>
            </a:r>
          </a:p>
          <a:p>
            <a:pPr marL="342900" indent="-342900">
              <a:lnSpc>
                <a:spcPct val="150000"/>
              </a:lnSpc>
              <a:buFont typeface="Wingdings" panose="05000000000000000000" pitchFamily="2" charset="2"/>
              <a:buChar char="q"/>
            </a:pPr>
            <a:r>
              <a:rPr lang="en-GB" dirty="0">
                <a:solidFill>
                  <a:schemeClr val="bg1"/>
                </a:solidFill>
              </a:rPr>
              <a:t>No temporal leakage</a:t>
            </a:r>
          </a:p>
          <a:p>
            <a:pPr marL="342900" indent="-342900">
              <a:lnSpc>
                <a:spcPct val="150000"/>
              </a:lnSpc>
              <a:buFont typeface="Wingdings" panose="05000000000000000000" pitchFamily="2" charset="2"/>
              <a:buChar char="q"/>
            </a:pPr>
            <a:r>
              <a:rPr lang="en-GB" dirty="0" err="1">
                <a:solidFill>
                  <a:schemeClr val="bg1"/>
                </a:solidFill>
              </a:rPr>
              <a:t>AdamW</a:t>
            </a:r>
            <a:r>
              <a:rPr lang="en-GB" dirty="0">
                <a:solidFill>
                  <a:schemeClr val="bg1"/>
                </a:solidFill>
              </a:rPr>
              <a:t> optimizer</a:t>
            </a:r>
          </a:p>
          <a:p>
            <a:pPr marL="342900" indent="-342900">
              <a:lnSpc>
                <a:spcPct val="150000"/>
              </a:lnSpc>
              <a:buFont typeface="Wingdings" panose="05000000000000000000" pitchFamily="2" charset="2"/>
              <a:buChar char="q"/>
            </a:pPr>
            <a:r>
              <a:rPr lang="en-GB" dirty="0">
                <a:solidFill>
                  <a:schemeClr val="bg1"/>
                </a:solidFill>
              </a:rPr>
              <a:t>Early stopping</a:t>
            </a:r>
          </a:p>
        </p:txBody>
      </p:sp>
      <p:sp>
        <p:nvSpPr>
          <p:cNvPr id="142" name="Shape 142">
            <a:extLst>
              <a:ext uri="{FF2B5EF4-FFF2-40B4-BE49-F238E27FC236}">
                <a16:creationId xmlns:a16="http://schemas.microsoft.com/office/drawing/2014/main" id="{3CF36410-FCF9-FB7B-F894-05B03091D338}"/>
              </a:ext>
            </a:extLst>
          </p:cNvPr>
          <p:cNvSpPr/>
          <p:nvPr/>
        </p:nvSpPr>
        <p:spPr>
          <a:xfrm>
            <a:off x="1560951" y="4638239"/>
            <a:ext cx="7721501" cy="11182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Train / Validation Split</a:t>
            </a:r>
            <a:endParaRPr sz="6600" b="1" dirty="0"/>
          </a:p>
        </p:txBody>
      </p:sp>
      <p:sp>
        <p:nvSpPr>
          <p:cNvPr id="143" name="Shape 143">
            <a:extLst>
              <a:ext uri="{FF2B5EF4-FFF2-40B4-BE49-F238E27FC236}">
                <a16:creationId xmlns:a16="http://schemas.microsoft.com/office/drawing/2014/main" id="{4FCA5F09-EC9E-11DA-CB95-5FDED2FE388C}"/>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74C5C8A3-0B6E-CF8B-6763-338BEAB35BF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6F3FD360-0FF5-F188-27D6-C89136E59A53}"/>
              </a:ext>
            </a:extLst>
          </p:cNvPr>
          <p:cNvSpPr>
            <a:spLocks noGrp="1"/>
          </p:cNvSpPr>
          <p:nvPr>
            <p:ph type="sldNum" sz="quarter" idx="2"/>
          </p:nvPr>
        </p:nvSpPr>
        <p:spPr>
          <a:xfrm>
            <a:off x="11962833" y="13081000"/>
            <a:ext cx="445636" cy="471924"/>
          </a:xfrm>
        </p:spPr>
        <p:txBody>
          <a:bodyPr/>
          <a:lstStyle/>
          <a:p>
            <a:r>
              <a:rPr lang="de-DE" dirty="0"/>
              <a:t>15</a:t>
            </a:r>
            <a:endParaRPr lang="en-GB" dirty="0"/>
          </a:p>
        </p:txBody>
      </p:sp>
      <p:pic>
        <p:nvPicPr>
          <p:cNvPr id="6" name="Picture 5">
            <a:extLst>
              <a:ext uri="{FF2B5EF4-FFF2-40B4-BE49-F238E27FC236}">
                <a16:creationId xmlns:a16="http://schemas.microsoft.com/office/drawing/2014/main" id="{6C5E0CF7-7E5B-BA1D-4947-4CBB83064D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4" name="Picture 3">
            <a:extLst>
              <a:ext uri="{FF2B5EF4-FFF2-40B4-BE49-F238E27FC236}">
                <a16:creationId xmlns:a16="http://schemas.microsoft.com/office/drawing/2014/main" id="{8DAAF870-C080-79FB-4EE9-221EEC4CB720}"/>
              </a:ext>
            </a:extLst>
          </p:cNvPr>
          <p:cNvPicPr>
            <a:picLocks noChangeAspect="1"/>
          </p:cNvPicPr>
          <p:nvPr/>
        </p:nvPicPr>
        <p:blipFill>
          <a:blip r:embed="rId3"/>
          <a:stretch>
            <a:fillRect/>
          </a:stretch>
        </p:blipFill>
        <p:spPr>
          <a:xfrm>
            <a:off x="11803662" y="7064883"/>
            <a:ext cx="13396070" cy="1567005"/>
          </a:xfrm>
          <a:prstGeom prst="rect">
            <a:avLst/>
          </a:prstGeom>
        </p:spPr>
      </p:pic>
      <p:sp>
        <p:nvSpPr>
          <p:cNvPr id="5" name="TextBox 4">
            <a:extLst>
              <a:ext uri="{FF2B5EF4-FFF2-40B4-BE49-F238E27FC236}">
                <a16:creationId xmlns:a16="http://schemas.microsoft.com/office/drawing/2014/main" id="{D632C1B1-8849-B91A-E7A6-DF94C8ADC877}"/>
              </a:ext>
            </a:extLst>
          </p:cNvPr>
          <p:cNvSpPr txBox="1"/>
          <p:nvPr/>
        </p:nvSpPr>
        <p:spPr>
          <a:xfrm>
            <a:off x="11246216" y="9171572"/>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10: Splitting Code</a:t>
            </a:r>
            <a:endParaRPr lang="en-GB" sz="2400" i="1" dirty="0"/>
          </a:p>
        </p:txBody>
      </p:sp>
    </p:spTree>
    <p:extLst>
      <p:ext uri="{BB962C8B-B14F-4D97-AF65-F5344CB8AC3E}">
        <p14:creationId xmlns:p14="http://schemas.microsoft.com/office/powerpoint/2010/main" val="29205171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8A97F-B3B8-9C8E-D325-6BC510764F66}"/>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24557356-1BF7-38D7-AD24-14A2ED9FCEF8}"/>
              </a:ext>
            </a:extLst>
          </p:cNvPr>
          <p:cNvSpPr/>
          <p:nvPr/>
        </p:nvSpPr>
        <p:spPr>
          <a:xfrm>
            <a:off x="12677275" y="1514053"/>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9AA19D6D-92B4-8D8F-74B6-4536C5C71824}"/>
              </a:ext>
            </a:extLst>
          </p:cNvPr>
          <p:cNvSpPr/>
          <p:nvPr/>
        </p:nvSpPr>
        <p:spPr>
          <a:xfrm>
            <a:off x="-1532997" y="6139699"/>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lang="en-GB" dirty="0"/>
          </a:p>
        </p:txBody>
      </p:sp>
      <mc:AlternateContent xmlns:mc="http://schemas.openxmlformats.org/markup-compatibility/2006">
        <mc:Choice xmlns:a14="http://schemas.microsoft.com/office/drawing/2010/main" Requires="a14">
          <p:sp>
            <p:nvSpPr>
              <p:cNvPr id="141" name="Shape 141">
                <a:extLst>
                  <a:ext uri="{FF2B5EF4-FFF2-40B4-BE49-F238E27FC236}">
                    <a16:creationId xmlns:a16="http://schemas.microsoft.com/office/drawing/2014/main" id="{2050E672-D681-0849-2528-C9B123E27BC4}"/>
                  </a:ext>
                </a:extLst>
              </p:cNvPr>
              <p:cNvSpPr/>
              <p:nvPr/>
            </p:nvSpPr>
            <p:spPr>
              <a:xfrm>
                <a:off x="1161868" y="6543296"/>
                <a:ext cx="6317937" cy="7329827"/>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Speed prediction (m/s)</a:t>
                </a:r>
              </a:p>
              <a:p>
                <a:pPr marL="342900" indent="-342900">
                  <a:lnSpc>
                    <a:spcPct val="150000"/>
                  </a:lnSpc>
                  <a:buFont typeface="Wingdings" panose="05000000000000000000" pitchFamily="2" charset="2"/>
                  <a:buChar char="q"/>
                </a:pPr>
                <a:r>
                  <a:rPr lang="en-GB" dirty="0">
                    <a:solidFill>
                      <a:schemeClr val="bg1"/>
                    </a:solidFill>
                  </a:rPr>
                  <a:t>Lane-change risk (probability)</a:t>
                </a:r>
              </a:p>
              <a:p>
                <a:pPr>
                  <a:lnSpc>
                    <a:spcPct val="150000"/>
                  </a:lnSpc>
                </a:pPr>
                <a:r>
                  <a:rPr lang="en-GB" sz="3600" dirty="0">
                    <a:solidFill>
                      <a:schemeClr val="bg1"/>
                    </a:solidFill>
                  </a:rPr>
                  <a:t>Loss Functions</a:t>
                </a:r>
              </a:p>
              <a:p>
                <a:pPr>
                  <a:lnSpc>
                    <a:spcPct val="150000"/>
                  </a:lnSpc>
                </a:pPr>
                <a:r>
                  <a:rPr lang="en-GB" dirty="0">
                    <a:solidFill>
                      <a:schemeClr val="bg1"/>
                    </a:solidFill>
                  </a:rPr>
                  <a:t>Speed (regression):</a:t>
                </a:r>
              </a:p>
              <a:p>
                <a:pPr>
                  <a:lnSpc>
                    <a:spcPct val="150000"/>
                  </a:lnSpc>
                </a:pPr>
                <a14:m>
                  <m:oMathPara xmlns:m="http://schemas.openxmlformats.org/officeDocument/2006/math">
                    <m:oMathParaPr>
                      <m:jc m:val="centerGroup"/>
                    </m:oMathParaPr>
                    <m:oMath xmlns:m="http://schemas.openxmlformats.org/officeDocument/2006/math">
                      <m:sSub>
                        <m:sSubPr>
                          <m:ctrlPr>
                            <a:rPr lang="en-GB" i="1" smtClean="0">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ℒ</m:t>
                          </m:r>
                        </m:e>
                        <m:sub>
                          <m:r>
                            <a:rPr lang="en-GB" i="1">
                              <a:solidFill>
                                <a:schemeClr val="bg1"/>
                              </a:solidFill>
                              <a:latin typeface="Cambria Math" panose="02040503050406030204" pitchFamily="18" charset="0"/>
                            </a:rPr>
                            <m:t>𝓈𝓅</m:t>
                          </m:r>
                          <m:r>
                            <a:rPr lang="en-GB" i="1">
                              <a:solidFill>
                                <a:schemeClr val="bg1"/>
                              </a:solidFill>
                              <a:latin typeface="Cambria Math" panose="02040503050406030204" pitchFamily="18" charset="0"/>
                            </a:rPr>
                            <m:t>ℯℯ</m:t>
                          </m:r>
                          <m:r>
                            <a:rPr lang="en-GB" i="1">
                              <a:solidFill>
                                <a:schemeClr val="bg1"/>
                              </a:solidFill>
                              <a:latin typeface="Cambria Math" panose="02040503050406030204" pitchFamily="18" charset="0"/>
                            </a:rPr>
                            <m:t>𝒹</m:t>
                          </m:r>
                        </m:sub>
                      </m:sSub>
                      <m:r>
                        <a:rPr lang="en-GB" i="1">
                          <a:solidFill>
                            <a:schemeClr val="bg1"/>
                          </a:solidFill>
                          <a:latin typeface="Cambria Math" panose="02040503050406030204" pitchFamily="18" charset="0"/>
                        </a:rPr>
                        <m:t>=</m:t>
                      </m:r>
                      <m:r>
                        <a:rPr lang="en-GB" i="1">
                          <a:solidFill>
                            <a:schemeClr val="bg1"/>
                          </a:solidFill>
                          <a:latin typeface="Cambria Math" panose="02040503050406030204" pitchFamily="18" charset="0"/>
                        </a:rPr>
                        <m:t>𝐻𝑢𝑏𝑒𝑟</m:t>
                      </m:r>
                      <m:d>
                        <m:dPr>
                          <m:ctrlPr>
                            <a:rPr lang="en-GB" i="1">
                              <a:solidFill>
                                <a:schemeClr val="bg1"/>
                              </a:solidFill>
                              <a:latin typeface="Cambria Math" panose="02040503050406030204" pitchFamily="18" charset="0"/>
                            </a:rPr>
                          </m:ctrlPr>
                        </m:dPr>
                        <m:e>
                          <m:r>
                            <a:rPr lang="en-GB" i="1">
                              <a:solidFill>
                                <a:schemeClr val="bg1"/>
                              </a:solidFill>
                              <a:latin typeface="Cambria Math" panose="02040503050406030204" pitchFamily="18" charset="0"/>
                            </a:rPr>
                            <m:t>𝑦</m:t>
                          </m:r>
                          <m:r>
                            <a:rPr lang="en-GB" i="1">
                              <a:solidFill>
                                <a:schemeClr val="bg1"/>
                              </a:solidFill>
                              <a:latin typeface="Cambria Math" panose="02040503050406030204" pitchFamily="18" charset="0"/>
                            </a:rPr>
                            <m:t>,</m:t>
                          </m:r>
                          <m:acc>
                            <m:accPr>
                              <m:chr m:val="̂"/>
                              <m:ctrlPr>
                                <a:rPr lang="en-GB" i="1">
                                  <a:solidFill>
                                    <a:schemeClr val="bg1"/>
                                  </a:solidFill>
                                  <a:latin typeface="Cambria Math" panose="02040503050406030204" pitchFamily="18" charset="0"/>
                                </a:rPr>
                              </m:ctrlPr>
                            </m:accPr>
                            <m:e>
                              <m:r>
                                <a:rPr lang="en-GB" i="1">
                                  <a:solidFill>
                                    <a:schemeClr val="bg1"/>
                                  </a:solidFill>
                                  <a:latin typeface="Cambria Math" panose="02040503050406030204" pitchFamily="18" charset="0"/>
                                </a:rPr>
                                <m:t>𝑦</m:t>
                              </m:r>
                            </m:e>
                          </m:acc>
                        </m:e>
                      </m:d>
                    </m:oMath>
                  </m:oMathPara>
                </a14:m>
              </a:p>
              <a:p>
                <a:pPr>
                  <a:lnSpc>
                    <a:spcPct val="150000"/>
                  </a:lnSpc>
                </a:pPr>
                <a:endParaRPr lang="en-GB" dirty="0">
                  <a:solidFill>
                    <a:schemeClr val="bg1"/>
                  </a:solidFill>
                </a:endParaRPr>
              </a:p>
              <a:p>
                <a:pPr>
                  <a:lnSpc>
                    <a:spcPct val="150000"/>
                  </a:lnSpc>
                </a:pPr>
                <a:r>
                  <a:rPr lang="en-GB" dirty="0">
                    <a:solidFill>
                      <a:schemeClr val="bg1"/>
                    </a:solidFill>
                  </a:rPr>
                  <a:t>Lane-change (classification):</a:t>
                </a:r>
              </a:p>
              <a:p>
                <a:pPr>
                  <a:lnSpc>
                    <a:spcPct val="150000"/>
                  </a:lnSpc>
                </a:pPr>
                <a14:m>
                  <m:oMathPara xmlns:m="http://schemas.openxmlformats.org/officeDocument/2006/math">
                    <m:oMathParaPr>
                      <m:jc m:val="centerGroup"/>
                    </m:oMathParaPr>
                    <m:oMath xmlns:m="http://schemas.openxmlformats.org/officeDocument/2006/math">
                      <m:sSub>
                        <m:sSubPr>
                          <m:ctrlPr>
                            <a:rPr lang="en-GB" i="1" smtClean="0">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ℒ</m:t>
                          </m:r>
                        </m:e>
                        <m:sub>
                          <m:r>
                            <a:rPr lang="en-GB" i="1">
                              <a:solidFill>
                                <a:schemeClr val="bg1"/>
                              </a:solidFill>
                              <a:latin typeface="Cambria Math" panose="02040503050406030204" pitchFamily="18" charset="0"/>
                            </a:rPr>
                            <m:t>𝓁𝒸</m:t>
                          </m:r>
                        </m:sub>
                      </m:sSub>
                      <m:r>
                        <a:rPr lang="en-GB" i="1">
                          <a:solidFill>
                            <a:schemeClr val="bg1"/>
                          </a:solidFill>
                          <a:latin typeface="Cambria Math" panose="02040503050406030204" pitchFamily="18" charset="0"/>
                        </a:rPr>
                        <m:t>=</m:t>
                      </m:r>
                      <m:r>
                        <a:rPr lang="en-GB" i="1">
                          <a:solidFill>
                            <a:schemeClr val="bg1"/>
                          </a:solidFill>
                          <a:latin typeface="Cambria Math" panose="02040503050406030204" pitchFamily="18" charset="0"/>
                        </a:rPr>
                        <m:t>𝐵𝐶𝐸</m:t>
                      </m:r>
                      <m:d>
                        <m:dPr>
                          <m:ctrlPr>
                            <a:rPr lang="en-GB" i="1">
                              <a:solidFill>
                                <a:schemeClr val="bg1"/>
                              </a:solidFill>
                              <a:latin typeface="Cambria Math" panose="02040503050406030204" pitchFamily="18" charset="0"/>
                            </a:rPr>
                          </m:ctrlPr>
                        </m:dPr>
                        <m:e>
                          <m:r>
                            <a:rPr lang="en-GB" i="1">
                              <a:solidFill>
                                <a:schemeClr val="bg1"/>
                              </a:solidFill>
                              <a:latin typeface="Cambria Math" panose="02040503050406030204" pitchFamily="18" charset="0"/>
                            </a:rPr>
                            <m:t>𝑦</m:t>
                          </m:r>
                          <m:r>
                            <a:rPr lang="en-GB" i="1">
                              <a:solidFill>
                                <a:schemeClr val="bg1"/>
                              </a:solidFill>
                              <a:latin typeface="Cambria Math" panose="02040503050406030204" pitchFamily="18" charset="0"/>
                            </a:rPr>
                            <m:t>,</m:t>
                          </m:r>
                          <m:acc>
                            <m:accPr>
                              <m:chr m:val="̂"/>
                              <m:ctrlPr>
                                <a:rPr lang="en-GB" i="1">
                                  <a:solidFill>
                                    <a:schemeClr val="bg1"/>
                                  </a:solidFill>
                                  <a:latin typeface="Cambria Math" panose="02040503050406030204" pitchFamily="18" charset="0"/>
                                </a:rPr>
                              </m:ctrlPr>
                            </m:accPr>
                            <m:e>
                              <m:r>
                                <a:rPr lang="en-GB" i="1">
                                  <a:solidFill>
                                    <a:schemeClr val="bg1"/>
                                  </a:solidFill>
                                  <a:latin typeface="Cambria Math" panose="02040503050406030204" pitchFamily="18" charset="0"/>
                                </a:rPr>
                                <m:t>𝑦</m:t>
                              </m:r>
                            </m:e>
                          </m:acc>
                        </m:e>
                      </m:d>
                    </m:oMath>
                  </m:oMathPara>
                </a14:m>
              </a:p>
              <a:p>
                <a:pPr>
                  <a:lnSpc>
                    <a:spcPct val="150000"/>
                  </a:lnSpc>
                </a:pPr>
                <a:endParaRPr lang="en-GB" dirty="0">
                  <a:solidFill>
                    <a:schemeClr val="bg1"/>
                  </a:solidFill>
                </a:endParaRPr>
              </a:p>
              <a:p>
                <a:pPr>
                  <a:lnSpc>
                    <a:spcPct val="150000"/>
                  </a:lnSpc>
                </a:pPr>
                <a:r>
                  <a:rPr lang="en-GB" dirty="0">
                    <a:solidFill>
                      <a:schemeClr val="bg1"/>
                    </a:solidFill>
                  </a:rPr>
                  <a:t>Total loss:</a:t>
                </a:r>
              </a:p>
              <a:p>
                <a:pPr>
                  <a:lnSpc>
                    <a:spcPct val="150000"/>
                  </a:lnSpc>
                </a:pPr>
                <a14:m>
                  <m:oMath xmlns:m="http://schemas.openxmlformats.org/officeDocument/2006/math">
                    <m:r>
                      <a:rPr lang="en-GB" i="1" smtClean="0">
                        <a:solidFill>
                          <a:schemeClr val="bg1"/>
                        </a:solidFill>
                        <a:latin typeface="Cambria Math" panose="02040503050406030204" pitchFamily="18" charset="0"/>
                      </a:rPr>
                      <m:t>ℒ</m:t>
                    </m:r>
                    <m:r>
                      <a:rPr lang="en-GB" i="1" smtClean="0">
                        <a:solidFill>
                          <a:schemeClr val="bg1"/>
                        </a:solidFill>
                        <a:latin typeface="Cambria Math" panose="02040503050406030204" pitchFamily="18" charset="0"/>
                      </a:rPr>
                      <m:t>=</m:t>
                    </m:r>
                    <m:sSub>
                      <m:sSubPr>
                        <m:ctrlPr>
                          <a:rPr lang="en-GB" i="1">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ℒ</m:t>
                        </m:r>
                      </m:e>
                      <m:sub>
                        <m:r>
                          <a:rPr lang="en-GB" i="1">
                            <a:solidFill>
                              <a:schemeClr val="bg1"/>
                            </a:solidFill>
                            <a:latin typeface="Cambria Math" panose="02040503050406030204" pitchFamily="18" charset="0"/>
                          </a:rPr>
                          <m:t>𝓈𝓅</m:t>
                        </m:r>
                        <m:r>
                          <a:rPr lang="en-GB" i="1">
                            <a:solidFill>
                              <a:schemeClr val="bg1"/>
                            </a:solidFill>
                            <a:latin typeface="Cambria Math" panose="02040503050406030204" pitchFamily="18" charset="0"/>
                          </a:rPr>
                          <m:t>ℯℯ</m:t>
                        </m:r>
                        <m:r>
                          <a:rPr lang="en-GB" i="1">
                            <a:solidFill>
                              <a:schemeClr val="bg1"/>
                            </a:solidFill>
                            <a:latin typeface="Cambria Math" panose="02040503050406030204" pitchFamily="18" charset="0"/>
                          </a:rPr>
                          <m:t>𝒹</m:t>
                        </m:r>
                      </m:sub>
                    </m:sSub>
                    <m:r>
                      <a:rPr lang="en-GB" i="1">
                        <a:solidFill>
                          <a:schemeClr val="bg1"/>
                        </a:solidFill>
                        <a:latin typeface="Cambria Math" panose="02040503050406030204" pitchFamily="18" charset="0"/>
                      </a:rPr>
                      <m:t>+</m:t>
                    </m:r>
                    <m:r>
                      <a:rPr lang="en-GB" i="1">
                        <a:solidFill>
                          <a:schemeClr val="bg1"/>
                        </a:solidFill>
                        <a:latin typeface="Cambria Math" panose="02040503050406030204" pitchFamily="18" charset="0"/>
                      </a:rPr>
                      <m:t>𝜆</m:t>
                    </m:r>
                    <m:sSub>
                      <m:sSubPr>
                        <m:ctrlPr>
                          <a:rPr lang="en-GB" i="1">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ℒ</m:t>
                        </m:r>
                      </m:e>
                      <m:sub>
                        <m:r>
                          <a:rPr lang="en-GB" i="1">
                            <a:solidFill>
                              <a:schemeClr val="bg1"/>
                            </a:solidFill>
                            <a:latin typeface="Cambria Math" panose="02040503050406030204" pitchFamily="18" charset="0"/>
                          </a:rPr>
                          <m:t>𝓁𝒸</m:t>
                        </m:r>
                      </m:sub>
                    </m:sSub>
                  </m:oMath>
                </a14:m>
              </a:p>
              <a:p>
                <a:pPr>
                  <a:lnSpc>
                    <a:spcPct val="150000"/>
                  </a:lnSpc>
                </a:pPr>
                <a:r>
                  <a:rPr lang="en-GB" dirty="0">
                    <a:solidFill>
                      <a:schemeClr val="bg1"/>
                    </a:solidFill>
                  </a:rPr>
                  <a:t>	​</a:t>
                </a:r>
              </a:p>
            </p:txBody>
          </p:sp>
        </mc:Choice>
        <mc:Fallback>
          <p:sp>
            <p:nvSpPr>
              <p:cNvPr id="141" name="Shape 141">
                <a:extLst>
                  <a:ext uri="{FF2B5EF4-FFF2-40B4-BE49-F238E27FC236}">
                    <a16:creationId xmlns:a16="http://schemas.microsoft.com/office/drawing/2014/main" id="{2050E672-D681-0849-2528-C9B123E27BC4}"/>
                  </a:ext>
                </a:extLst>
              </p:cNvPr>
              <p:cNvSpPr>
                <a:spLocks noRot="1" noChangeAspect="1" noMove="1" noResize="1" noEditPoints="1" noAdjustHandles="1" noChangeArrowheads="1" noChangeShapeType="1" noTextEdit="1"/>
              </p:cNvSpPr>
              <p:nvPr/>
            </p:nvSpPr>
            <p:spPr>
              <a:xfrm>
                <a:off x="1161868" y="6543296"/>
                <a:ext cx="6317937" cy="7329827"/>
              </a:xfrm>
              <a:prstGeom prst="rect">
                <a:avLst/>
              </a:prstGeom>
              <a:blipFill>
                <a:blip r:embed="rId3"/>
                <a:stretch>
                  <a:fillRect l="-3668" b="-1413"/>
                </a:stretch>
              </a:blipFill>
              <a:ln w="12700">
                <a:miter lim="400000"/>
              </a:ln>
              <a:extLst>
                <a:ext uri="{C572A759-6A51-4108-AA02-DFA0A04FC94B}">
                  <ma14:wrappingTextBoxFlag xmlns:ma14="http://schemas.microsoft.com/office/mac/drawingml/2011/main" xmlns="" val="1"/>
                </a:ext>
              </a:extLst>
            </p:spPr>
            <p:txBody>
              <a:bodyPr/>
              <a:lstStyle/>
              <a:p>
                <a:r>
                  <a:rPr lang="en-GB">
                    <a:noFill/>
                  </a:rPr>
                  <a:t> </a:t>
                </a:r>
              </a:p>
            </p:txBody>
          </p:sp>
        </mc:Fallback>
      </mc:AlternateContent>
      <p:sp>
        <p:nvSpPr>
          <p:cNvPr id="142" name="Shape 142">
            <a:extLst>
              <a:ext uri="{FF2B5EF4-FFF2-40B4-BE49-F238E27FC236}">
                <a16:creationId xmlns:a16="http://schemas.microsoft.com/office/drawing/2014/main" id="{82A8CA17-5972-C458-F12A-DB66019F790C}"/>
              </a:ext>
            </a:extLst>
          </p:cNvPr>
          <p:cNvSpPr/>
          <p:nvPr/>
        </p:nvSpPr>
        <p:spPr>
          <a:xfrm>
            <a:off x="1560951" y="4638239"/>
            <a:ext cx="7721501" cy="11182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Model Outputs</a:t>
            </a:r>
            <a:endParaRPr sz="6600" b="1" dirty="0"/>
          </a:p>
        </p:txBody>
      </p:sp>
      <p:sp>
        <p:nvSpPr>
          <p:cNvPr id="143" name="Shape 143">
            <a:extLst>
              <a:ext uri="{FF2B5EF4-FFF2-40B4-BE49-F238E27FC236}">
                <a16:creationId xmlns:a16="http://schemas.microsoft.com/office/drawing/2014/main" id="{F08CC793-0AE6-61E0-78DD-1F74226F277E}"/>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DB42C90D-836E-6F4C-EA13-EF37DA3433ED}"/>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5594A55B-44E8-DAAC-EFDD-94401F67F435}"/>
              </a:ext>
            </a:extLst>
          </p:cNvPr>
          <p:cNvSpPr>
            <a:spLocks noGrp="1"/>
          </p:cNvSpPr>
          <p:nvPr>
            <p:ph type="sldNum" sz="quarter" idx="2"/>
          </p:nvPr>
        </p:nvSpPr>
        <p:spPr>
          <a:xfrm>
            <a:off x="11962833" y="13081000"/>
            <a:ext cx="445636" cy="471924"/>
          </a:xfrm>
        </p:spPr>
        <p:txBody>
          <a:bodyPr/>
          <a:lstStyle/>
          <a:p>
            <a:r>
              <a:rPr lang="de-DE" dirty="0"/>
              <a:t>16</a:t>
            </a:r>
            <a:endParaRPr lang="en-GB" dirty="0"/>
          </a:p>
        </p:txBody>
      </p:sp>
      <p:pic>
        <p:nvPicPr>
          <p:cNvPr id="6" name="Picture 5">
            <a:extLst>
              <a:ext uri="{FF2B5EF4-FFF2-40B4-BE49-F238E27FC236}">
                <a16:creationId xmlns:a16="http://schemas.microsoft.com/office/drawing/2014/main" id="{957DED8B-50B9-CE01-7854-4FE2A26AB3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6150" name="Picture 6">
            <a:extLst>
              <a:ext uri="{FF2B5EF4-FFF2-40B4-BE49-F238E27FC236}">
                <a16:creationId xmlns:a16="http://schemas.microsoft.com/office/drawing/2014/main" id="{9BCEDC89-8276-E6BF-B808-4855DA3076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42848" y="2380763"/>
            <a:ext cx="10090781" cy="786862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64D33CB-7A8A-1053-351E-16869D55CB2F}"/>
              </a:ext>
            </a:extLst>
          </p:cNvPr>
          <p:cNvSpPr txBox="1"/>
          <p:nvPr/>
        </p:nvSpPr>
        <p:spPr>
          <a:xfrm>
            <a:off x="11802806" y="10783384"/>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11: Training curve </a:t>
            </a:r>
            <a:endParaRPr lang="en-GB" sz="2400" i="1" dirty="0"/>
          </a:p>
        </p:txBody>
      </p:sp>
    </p:spTree>
    <p:extLst>
      <p:ext uri="{BB962C8B-B14F-4D97-AF65-F5344CB8AC3E}">
        <p14:creationId xmlns:p14="http://schemas.microsoft.com/office/powerpoint/2010/main" val="88311472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F4C9-A3A8-A5E2-36BB-E3352E592242}"/>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A8754BE9-4993-043D-E245-2455C0B3B4F4}"/>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D3BFEFA1-A32D-213F-310E-FDBBAD6AF15A}"/>
              </a:ext>
            </a:extLst>
          </p:cNvPr>
          <p:cNvSpPr/>
          <p:nvPr/>
        </p:nvSpPr>
        <p:spPr>
          <a:xfrm>
            <a:off x="-1577976" y="5854183"/>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69C8933B-323C-7346-6BEB-595DD85276EC}"/>
              </a:ext>
            </a:extLst>
          </p:cNvPr>
          <p:cNvSpPr/>
          <p:nvPr/>
        </p:nvSpPr>
        <p:spPr>
          <a:xfrm>
            <a:off x="1527615" y="6882567"/>
            <a:ext cx="13527100" cy="235128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MAE ≈ 1.0 m/s</a:t>
            </a:r>
          </a:p>
          <a:p>
            <a:pPr marL="342900" indent="-342900">
              <a:lnSpc>
                <a:spcPct val="150000"/>
              </a:lnSpc>
              <a:buFont typeface="Wingdings" panose="05000000000000000000" pitchFamily="2" charset="2"/>
              <a:buChar char="q"/>
            </a:pPr>
            <a:r>
              <a:rPr lang="en-GB" dirty="0">
                <a:solidFill>
                  <a:schemeClr val="bg1"/>
                </a:solidFill>
              </a:rPr>
              <a:t>RMSE ≈ 1.7–1.9 m/s</a:t>
            </a:r>
          </a:p>
          <a:p>
            <a:pPr marL="342900" indent="-342900">
              <a:lnSpc>
                <a:spcPct val="150000"/>
              </a:lnSpc>
              <a:buFont typeface="Wingdings" panose="05000000000000000000" pitchFamily="2" charset="2"/>
              <a:buChar char="q"/>
            </a:pPr>
            <a:r>
              <a:rPr lang="en-GB" dirty="0">
                <a:solidFill>
                  <a:schemeClr val="bg1"/>
                </a:solidFill>
              </a:rPr>
              <a:t>Stable training</a:t>
            </a:r>
          </a:p>
          <a:p>
            <a:pPr marL="342900" indent="-342900">
              <a:lnSpc>
                <a:spcPct val="150000"/>
              </a:lnSpc>
              <a:buFont typeface="Wingdings" panose="05000000000000000000" pitchFamily="2" charset="2"/>
              <a:buChar char="q"/>
            </a:pPr>
            <a:r>
              <a:rPr lang="en-GB" dirty="0">
                <a:solidFill>
                  <a:schemeClr val="bg1"/>
                </a:solidFill>
              </a:rPr>
              <a:t>Good generalization</a:t>
            </a:r>
          </a:p>
        </p:txBody>
      </p:sp>
      <p:sp>
        <p:nvSpPr>
          <p:cNvPr id="142" name="Shape 142">
            <a:extLst>
              <a:ext uri="{FF2B5EF4-FFF2-40B4-BE49-F238E27FC236}">
                <a16:creationId xmlns:a16="http://schemas.microsoft.com/office/drawing/2014/main" id="{D00970C6-C5D1-87EB-EF06-45F67DE82DE2}"/>
              </a:ext>
            </a:extLst>
          </p:cNvPr>
          <p:cNvSpPr/>
          <p:nvPr/>
        </p:nvSpPr>
        <p:spPr>
          <a:xfrm>
            <a:off x="2438388" y="2756466"/>
            <a:ext cx="7721501" cy="213391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Results: Speed Prediction</a:t>
            </a:r>
            <a:endParaRPr sz="6600" b="1" dirty="0"/>
          </a:p>
        </p:txBody>
      </p:sp>
      <p:sp>
        <p:nvSpPr>
          <p:cNvPr id="143" name="Shape 143">
            <a:extLst>
              <a:ext uri="{FF2B5EF4-FFF2-40B4-BE49-F238E27FC236}">
                <a16:creationId xmlns:a16="http://schemas.microsoft.com/office/drawing/2014/main" id="{673B2A62-363D-6AC6-A92A-F2941CC730BA}"/>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B4C68DC0-F6E4-BB75-B3E7-7EBD7793F64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C8F2285A-1565-B8DE-8E24-68D447575B79}"/>
              </a:ext>
            </a:extLst>
          </p:cNvPr>
          <p:cNvSpPr>
            <a:spLocks noGrp="1"/>
          </p:cNvSpPr>
          <p:nvPr>
            <p:ph type="sldNum" sz="quarter" idx="2"/>
          </p:nvPr>
        </p:nvSpPr>
        <p:spPr>
          <a:xfrm>
            <a:off x="11962833" y="13081000"/>
            <a:ext cx="445636" cy="471924"/>
          </a:xfrm>
        </p:spPr>
        <p:txBody>
          <a:bodyPr/>
          <a:lstStyle/>
          <a:p>
            <a:r>
              <a:rPr lang="de-DE" dirty="0"/>
              <a:t>17</a:t>
            </a:r>
            <a:endParaRPr lang="en-GB" dirty="0"/>
          </a:p>
        </p:txBody>
      </p:sp>
      <p:pic>
        <p:nvPicPr>
          <p:cNvPr id="6" name="Picture 5">
            <a:extLst>
              <a:ext uri="{FF2B5EF4-FFF2-40B4-BE49-F238E27FC236}">
                <a16:creationId xmlns:a16="http://schemas.microsoft.com/office/drawing/2014/main" id="{BA27B016-8F4C-226D-7851-EAE08B5868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 name="Picture 2">
            <a:extLst>
              <a:ext uri="{FF2B5EF4-FFF2-40B4-BE49-F238E27FC236}">
                <a16:creationId xmlns:a16="http://schemas.microsoft.com/office/drawing/2014/main" id="{896E6E85-2C41-27CE-BA71-EBB695B33C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7008" y="1526896"/>
            <a:ext cx="7150608" cy="561229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59C94A1-86CE-C421-19FE-9A1D1CC8DD16}"/>
              </a:ext>
            </a:extLst>
          </p:cNvPr>
          <p:cNvPicPr>
            <a:picLocks noChangeAspect="1"/>
          </p:cNvPicPr>
          <p:nvPr/>
        </p:nvPicPr>
        <p:blipFill>
          <a:blip r:embed="rId4"/>
          <a:stretch>
            <a:fillRect/>
          </a:stretch>
        </p:blipFill>
        <p:spPr>
          <a:xfrm>
            <a:off x="8379397" y="6833433"/>
            <a:ext cx="6487540" cy="5243039"/>
          </a:xfrm>
          <a:prstGeom prst="rect">
            <a:avLst/>
          </a:prstGeom>
        </p:spPr>
      </p:pic>
      <p:sp>
        <p:nvSpPr>
          <p:cNvPr id="5" name="TextBox 4">
            <a:extLst>
              <a:ext uri="{FF2B5EF4-FFF2-40B4-BE49-F238E27FC236}">
                <a16:creationId xmlns:a16="http://schemas.microsoft.com/office/drawing/2014/main" id="{B4D47D68-65A7-D1DE-CC38-3A99A3741880}"/>
              </a:ext>
            </a:extLst>
          </p:cNvPr>
          <p:cNvSpPr txBox="1"/>
          <p:nvPr/>
        </p:nvSpPr>
        <p:spPr>
          <a:xfrm>
            <a:off x="12707394" y="8772187"/>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12: Predicted Speeds </a:t>
            </a:r>
            <a:endParaRPr lang="en-GB" sz="2400" i="1" dirty="0"/>
          </a:p>
        </p:txBody>
      </p:sp>
    </p:spTree>
    <p:extLst>
      <p:ext uri="{BB962C8B-B14F-4D97-AF65-F5344CB8AC3E}">
        <p14:creationId xmlns:p14="http://schemas.microsoft.com/office/powerpoint/2010/main" val="131355661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F919A-7199-93BE-3E04-5437E3573877}"/>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C70253A8-598B-A9F8-FEEE-90A03CD114F0}"/>
              </a:ext>
            </a:extLst>
          </p:cNvPr>
          <p:cNvSpPr/>
          <p:nvPr/>
        </p:nvSpPr>
        <p:spPr>
          <a:xfrm>
            <a:off x="14048875" y="1546015"/>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2DCBB9F9-0D78-AF9D-3E49-CE260A121AD6}"/>
              </a:ext>
            </a:extLst>
          </p:cNvPr>
          <p:cNvSpPr/>
          <p:nvPr/>
        </p:nvSpPr>
        <p:spPr>
          <a:xfrm>
            <a:off x="-2484148" y="5775612"/>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CC182130-8367-905E-0577-0109D374E76A}"/>
              </a:ext>
            </a:extLst>
          </p:cNvPr>
          <p:cNvSpPr/>
          <p:nvPr/>
        </p:nvSpPr>
        <p:spPr>
          <a:xfrm>
            <a:off x="1527615" y="6882568"/>
            <a:ext cx="13527100" cy="235128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Precision ≈ 0.87</a:t>
            </a:r>
          </a:p>
          <a:p>
            <a:pPr marL="342900" indent="-342900">
              <a:lnSpc>
                <a:spcPct val="150000"/>
              </a:lnSpc>
              <a:buFont typeface="Wingdings" panose="05000000000000000000" pitchFamily="2" charset="2"/>
              <a:buChar char="q"/>
            </a:pPr>
            <a:r>
              <a:rPr lang="en-GB" dirty="0">
                <a:solidFill>
                  <a:schemeClr val="bg1"/>
                </a:solidFill>
              </a:rPr>
              <a:t>Recall ≈ 0.91</a:t>
            </a:r>
          </a:p>
          <a:p>
            <a:pPr marL="342900" indent="-342900">
              <a:lnSpc>
                <a:spcPct val="150000"/>
              </a:lnSpc>
              <a:buFont typeface="Wingdings" panose="05000000000000000000" pitchFamily="2" charset="2"/>
              <a:buChar char="q"/>
            </a:pPr>
            <a:r>
              <a:rPr lang="en-GB" dirty="0">
                <a:solidFill>
                  <a:schemeClr val="bg1"/>
                </a:solidFill>
              </a:rPr>
              <a:t>F1-score ≈ 0.89</a:t>
            </a:r>
          </a:p>
          <a:p>
            <a:pPr marL="342900" indent="-342900">
              <a:lnSpc>
                <a:spcPct val="150000"/>
              </a:lnSpc>
              <a:buFont typeface="Wingdings" panose="05000000000000000000" pitchFamily="2" charset="2"/>
              <a:buChar char="q"/>
            </a:pPr>
            <a:r>
              <a:rPr lang="en-GB" dirty="0">
                <a:solidFill>
                  <a:schemeClr val="bg1"/>
                </a:solidFill>
              </a:rPr>
              <a:t>PR-AUC ≈ 0.92</a:t>
            </a:r>
          </a:p>
        </p:txBody>
      </p:sp>
      <p:sp>
        <p:nvSpPr>
          <p:cNvPr id="142" name="Shape 142">
            <a:extLst>
              <a:ext uri="{FF2B5EF4-FFF2-40B4-BE49-F238E27FC236}">
                <a16:creationId xmlns:a16="http://schemas.microsoft.com/office/drawing/2014/main" id="{2CAC1459-3FF2-6239-C486-773F982CFC0F}"/>
              </a:ext>
            </a:extLst>
          </p:cNvPr>
          <p:cNvSpPr/>
          <p:nvPr/>
        </p:nvSpPr>
        <p:spPr>
          <a:xfrm>
            <a:off x="1607785" y="2768610"/>
            <a:ext cx="7721501" cy="213391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Results: Lane-change Detection</a:t>
            </a:r>
            <a:endParaRPr sz="6600" b="1" dirty="0"/>
          </a:p>
        </p:txBody>
      </p:sp>
      <p:sp>
        <p:nvSpPr>
          <p:cNvPr id="143" name="Shape 143">
            <a:extLst>
              <a:ext uri="{FF2B5EF4-FFF2-40B4-BE49-F238E27FC236}">
                <a16:creationId xmlns:a16="http://schemas.microsoft.com/office/drawing/2014/main" id="{933D73A6-37B3-A084-4CD4-F12BC46EE1AC}"/>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FA78C1AD-E038-EA6E-B1FA-4C32A67712EC}"/>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0B2C818B-9285-EE7A-1B41-FBDFA4CD083F}"/>
              </a:ext>
            </a:extLst>
          </p:cNvPr>
          <p:cNvSpPr>
            <a:spLocks noGrp="1"/>
          </p:cNvSpPr>
          <p:nvPr>
            <p:ph type="sldNum" sz="quarter" idx="2"/>
          </p:nvPr>
        </p:nvSpPr>
        <p:spPr>
          <a:xfrm>
            <a:off x="11962833" y="13081000"/>
            <a:ext cx="445636" cy="471924"/>
          </a:xfrm>
        </p:spPr>
        <p:txBody>
          <a:bodyPr/>
          <a:lstStyle/>
          <a:p>
            <a:r>
              <a:rPr lang="de-DE" dirty="0"/>
              <a:t>18</a:t>
            </a:r>
            <a:endParaRPr lang="en-GB" dirty="0"/>
          </a:p>
        </p:txBody>
      </p:sp>
      <p:pic>
        <p:nvPicPr>
          <p:cNvPr id="6" name="Picture 5">
            <a:extLst>
              <a:ext uri="{FF2B5EF4-FFF2-40B4-BE49-F238E27FC236}">
                <a16:creationId xmlns:a16="http://schemas.microsoft.com/office/drawing/2014/main" id="{B4E69030-67B1-8C91-C0F4-08F569D89B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4" name="Picture 3">
            <a:extLst>
              <a:ext uri="{FF2B5EF4-FFF2-40B4-BE49-F238E27FC236}">
                <a16:creationId xmlns:a16="http://schemas.microsoft.com/office/drawing/2014/main" id="{E30242B6-4F66-2283-641A-051432F4BE8A}"/>
              </a:ext>
            </a:extLst>
          </p:cNvPr>
          <p:cNvPicPr>
            <a:picLocks noChangeAspect="1"/>
          </p:cNvPicPr>
          <p:nvPr/>
        </p:nvPicPr>
        <p:blipFill>
          <a:blip r:embed="rId3"/>
          <a:stretch>
            <a:fillRect/>
          </a:stretch>
        </p:blipFill>
        <p:spPr>
          <a:xfrm>
            <a:off x="15239336" y="2539699"/>
            <a:ext cx="8064893" cy="6471827"/>
          </a:xfrm>
          <a:prstGeom prst="rect">
            <a:avLst/>
          </a:prstGeom>
        </p:spPr>
      </p:pic>
      <p:pic>
        <p:nvPicPr>
          <p:cNvPr id="8194" name="Picture 2">
            <a:extLst>
              <a:ext uri="{FF2B5EF4-FFF2-40B4-BE49-F238E27FC236}">
                <a16:creationId xmlns:a16="http://schemas.microsoft.com/office/drawing/2014/main" id="{FA955574-8FC3-3D18-6995-4BF7E15FBF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9805" y="6802618"/>
            <a:ext cx="6164324" cy="54461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F8A909E-7EF0-EC9C-A57F-732EB90ED476}"/>
              </a:ext>
            </a:extLst>
          </p:cNvPr>
          <p:cNvSpPr txBox="1"/>
          <p:nvPr/>
        </p:nvSpPr>
        <p:spPr>
          <a:xfrm>
            <a:off x="16904196" y="9392845"/>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defRPr>
                <a:solidFill>
                  <a:srgbClr val="FFFFFF"/>
                </a:solidFill>
              </a:defRPr>
            </a:pPr>
            <a:r>
              <a:rPr lang="en-GB" sz="2400" i="1" dirty="0">
                <a:solidFill>
                  <a:schemeClr val="bg1"/>
                </a:solidFill>
              </a:rPr>
              <a:t>Figure 13: Lane Change Accuracy  </a:t>
            </a:r>
            <a:endParaRPr lang="en-GB" sz="2400" i="1" dirty="0"/>
          </a:p>
        </p:txBody>
      </p:sp>
    </p:spTree>
    <p:extLst>
      <p:ext uri="{BB962C8B-B14F-4D97-AF65-F5344CB8AC3E}">
        <p14:creationId xmlns:p14="http://schemas.microsoft.com/office/powerpoint/2010/main" val="237534441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54FD9-627C-532E-2D82-22559BCD30FB}"/>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EC9792BB-3917-42BF-19AC-4C80BE4BFFAB}"/>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0F005FD3-FA5F-5641-045D-7A7B7C64502E}"/>
              </a:ext>
            </a:extLst>
          </p:cNvPr>
          <p:cNvSpPr/>
          <p:nvPr/>
        </p:nvSpPr>
        <p:spPr>
          <a:xfrm>
            <a:off x="-1132983" y="5829194"/>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756DFC2B-3998-1B02-FC49-F28A20567951}"/>
              </a:ext>
            </a:extLst>
          </p:cNvPr>
          <p:cNvSpPr/>
          <p:nvPr/>
        </p:nvSpPr>
        <p:spPr>
          <a:xfrm>
            <a:off x="1527615" y="6305486"/>
            <a:ext cx="13527100" cy="3505447"/>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Rule-based Variable Speed Limit (VSL)</a:t>
            </a:r>
          </a:p>
          <a:p>
            <a:pPr>
              <a:lnSpc>
                <a:spcPct val="150000"/>
              </a:lnSpc>
            </a:pPr>
            <a:r>
              <a:rPr lang="en-GB" dirty="0">
                <a:solidFill>
                  <a:schemeClr val="bg1"/>
                </a:solidFill>
              </a:rPr>
              <a:t>Inputs:</a:t>
            </a:r>
          </a:p>
          <a:p>
            <a:pPr marL="342900" indent="-342900">
              <a:lnSpc>
                <a:spcPct val="150000"/>
              </a:lnSpc>
              <a:buFont typeface="Wingdings" panose="05000000000000000000" pitchFamily="2" charset="2"/>
              <a:buChar char="q"/>
            </a:pPr>
            <a:r>
              <a:rPr lang="en-GB" dirty="0">
                <a:solidFill>
                  <a:schemeClr val="bg1"/>
                </a:solidFill>
              </a:rPr>
              <a:t>Predicted speed</a:t>
            </a:r>
          </a:p>
          <a:p>
            <a:pPr marL="342900" indent="-342900">
              <a:lnSpc>
                <a:spcPct val="150000"/>
              </a:lnSpc>
              <a:buFont typeface="Wingdings" panose="05000000000000000000" pitchFamily="2" charset="2"/>
              <a:buChar char="q"/>
            </a:pPr>
            <a:r>
              <a:rPr lang="en-GB" dirty="0">
                <a:solidFill>
                  <a:schemeClr val="bg1"/>
                </a:solidFill>
              </a:rPr>
              <a:t>Lane-change risk</a:t>
            </a:r>
          </a:p>
          <a:p>
            <a:pPr>
              <a:lnSpc>
                <a:spcPct val="150000"/>
              </a:lnSpc>
            </a:pPr>
            <a:r>
              <a:rPr lang="en-GB" dirty="0">
                <a:solidFill>
                  <a:schemeClr val="bg1"/>
                </a:solidFill>
              </a:rPr>
              <a:t>Output:</a:t>
            </a:r>
          </a:p>
          <a:p>
            <a:pPr marL="342900" indent="-342900">
              <a:lnSpc>
                <a:spcPct val="150000"/>
              </a:lnSpc>
              <a:buFont typeface="Wingdings" panose="05000000000000000000" pitchFamily="2" charset="2"/>
              <a:buChar char="q"/>
            </a:pPr>
            <a:r>
              <a:rPr lang="en-GB" dirty="0">
                <a:solidFill>
                  <a:schemeClr val="bg1"/>
                </a:solidFill>
              </a:rPr>
              <a:t>Recommended speed limit</a:t>
            </a:r>
          </a:p>
        </p:txBody>
      </p:sp>
      <p:sp>
        <p:nvSpPr>
          <p:cNvPr id="142" name="Shape 142">
            <a:extLst>
              <a:ext uri="{FF2B5EF4-FFF2-40B4-BE49-F238E27FC236}">
                <a16:creationId xmlns:a16="http://schemas.microsoft.com/office/drawing/2014/main" id="{2C4C107C-709D-20D2-E7A9-018D49DA513F}"/>
              </a:ext>
            </a:extLst>
          </p:cNvPr>
          <p:cNvSpPr/>
          <p:nvPr/>
        </p:nvSpPr>
        <p:spPr>
          <a:xfrm>
            <a:off x="1560951" y="4638239"/>
            <a:ext cx="7721501" cy="11182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Optimization Strategy</a:t>
            </a:r>
            <a:endParaRPr sz="6600" b="1" dirty="0"/>
          </a:p>
        </p:txBody>
      </p:sp>
      <p:sp>
        <p:nvSpPr>
          <p:cNvPr id="143" name="Shape 143">
            <a:extLst>
              <a:ext uri="{FF2B5EF4-FFF2-40B4-BE49-F238E27FC236}">
                <a16:creationId xmlns:a16="http://schemas.microsoft.com/office/drawing/2014/main" id="{A40BD41E-A396-0466-3E39-E3BB46E18F5A}"/>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5B6C9A66-4C7F-F140-F37C-99EDDFF018D0}"/>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A8706F35-FC1D-8DEA-0821-27B3C4E96B6D}"/>
              </a:ext>
            </a:extLst>
          </p:cNvPr>
          <p:cNvSpPr>
            <a:spLocks noGrp="1"/>
          </p:cNvSpPr>
          <p:nvPr>
            <p:ph type="sldNum" sz="quarter" idx="2"/>
          </p:nvPr>
        </p:nvSpPr>
        <p:spPr>
          <a:xfrm>
            <a:off x="11962833" y="13081000"/>
            <a:ext cx="445636" cy="471924"/>
          </a:xfrm>
        </p:spPr>
        <p:txBody>
          <a:bodyPr/>
          <a:lstStyle/>
          <a:p>
            <a:r>
              <a:rPr lang="de-DE" dirty="0"/>
              <a:t>19</a:t>
            </a:r>
            <a:endParaRPr lang="en-GB" dirty="0"/>
          </a:p>
        </p:txBody>
      </p:sp>
      <p:pic>
        <p:nvPicPr>
          <p:cNvPr id="6" name="Picture 5">
            <a:extLst>
              <a:ext uri="{FF2B5EF4-FFF2-40B4-BE49-F238E27FC236}">
                <a16:creationId xmlns:a16="http://schemas.microsoft.com/office/drawing/2014/main" id="{4DA86D4E-295B-F09B-65E2-E89C013A06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276377166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72B15-A672-60D6-16E3-FBAF75A36A40}"/>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3F720512-4CDF-3FA4-855C-3F84938580E5}"/>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D32C284A-AE9A-1493-E109-4EA9C3DF8B96}"/>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A213B76A-EAC0-D9F9-308A-273F2689A11B}"/>
              </a:ext>
            </a:extLst>
          </p:cNvPr>
          <p:cNvSpPr/>
          <p:nvPr/>
        </p:nvSpPr>
        <p:spPr>
          <a:xfrm>
            <a:off x="1527615" y="7171107"/>
            <a:ext cx="13527100" cy="177420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Interpretable Stable</a:t>
            </a:r>
          </a:p>
          <a:p>
            <a:pPr marL="342900" indent="-342900">
              <a:lnSpc>
                <a:spcPct val="150000"/>
              </a:lnSpc>
              <a:buFont typeface="Wingdings" panose="05000000000000000000" pitchFamily="2" charset="2"/>
              <a:buChar char="q"/>
            </a:pPr>
            <a:r>
              <a:rPr lang="en-GB" dirty="0">
                <a:solidFill>
                  <a:schemeClr val="bg1"/>
                </a:solidFill>
              </a:rPr>
              <a:t>No need for reinforcement learning</a:t>
            </a:r>
          </a:p>
          <a:p>
            <a:pPr marL="342900" indent="-342900">
              <a:lnSpc>
                <a:spcPct val="150000"/>
              </a:lnSpc>
              <a:buFont typeface="Wingdings" panose="05000000000000000000" pitchFamily="2" charset="2"/>
              <a:buChar char="q"/>
            </a:pPr>
            <a:r>
              <a:rPr lang="en-GB" dirty="0">
                <a:solidFill>
                  <a:schemeClr val="bg1"/>
                </a:solidFill>
              </a:rPr>
              <a:t>Suitable for real traffic systems</a:t>
            </a:r>
          </a:p>
        </p:txBody>
      </p:sp>
      <p:sp>
        <p:nvSpPr>
          <p:cNvPr id="142" name="Shape 142">
            <a:extLst>
              <a:ext uri="{FF2B5EF4-FFF2-40B4-BE49-F238E27FC236}">
                <a16:creationId xmlns:a16="http://schemas.microsoft.com/office/drawing/2014/main" id="{61071CD3-1F7E-B081-0157-AD094EB63C35}"/>
              </a:ext>
            </a:extLst>
          </p:cNvPr>
          <p:cNvSpPr/>
          <p:nvPr/>
        </p:nvSpPr>
        <p:spPr>
          <a:xfrm>
            <a:off x="1607785" y="3047560"/>
            <a:ext cx="7721501" cy="213391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why Rule-Based Optimizer?</a:t>
            </a:r>
            <a:endParaRPr sz="6600" b="1" dirty="0"/>
          </a:p>
        </p:txBody>
      </p:sp>
      <p:sp>
        <p:nvSpPr>
          <p:cNvPr id="143" name="Shape 143">
            <a:extLst>
              <a:ext uri="{FF2B5EF4-FFF2-40B4-BE49-F238E27FC236}">
                <a16:creationId xmlns:a16="http://schemas.microsoft.com/office/drawing/2014/main" id="{352ABB2F-6D3D-B212-0E2B-8D6993480C4D}"/>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8E56DB6E-CD2F-0918-93DD-8E257D30DEB0}"/>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8CE827D9-CB4E-81F1-7B6C-220F6E1BB03C}"/>
              </a:ext>
            </a:extLst>
          </p:cNvPr>
          <p:cNvSpPr>
            <a:spLocks noGrp="1"/>
          </p:cNvSpPr>
          <p:nvPr>
            <p:ph type="sldNum" sz="quarter" idx="2"/>
          </p:nvPr>
        </p:nvSpPr>
        <p:spPr>
          <a:xfrm>
            <a:off x="11962833" y="13081000"/>
            <a:ext cx="445636" cy="471924"/>
          </a:xfrm>
        </p:spPr>
        <p:txBody>
          <a:bodyPr/>
          <a:lstStyle/>
          <a:p>
            <a:r>
              <a:rPr lang="de-DE" dirty="0"/>
              <a:t>20</a:t>
            </a:r>
            <a:endParaRPr lang="en-GB" dirty="0"/>
          </a:p>
        </p:txBody>
      </p:sp>
      <p:pic>
        <p:nvPicPr>
          <p:cNvPr id="6" name="Picture 5">
            <a:extLst>
              <a:ext uri="{FF2B5EF4-FFF2-40B4-BE49-F238E27FC236}">
                <a16:creationId xmlns:a16="http://schemas.microsoft.com/office/drawing/2014/main" id="{51D80BA1-EA4B-FA48-20E5-05413B0F28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282857241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62FFC-1EC3-46DF-282A-7492E1381D9F}"/>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A8E8003C-D962-F658-1483-52FB2891998B}"/>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AD35A87B-66FC-0D74-380D-7A3035CD8F09}"/>
              </a:ext>
            </a:extLst>
          </p:cNvPr>
          <p:cNvSpPr/>
          <p:nvPr/>
        </p:nvSpPr>
        <p:spPr>
          <a:xfrm>
            <a:off x="-950103" y="5842039"/>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mc:AlternateContent xmlns:mc="http://schemas.openxmlformats.org/markup-compatibility/2006">
        <mc:Choice xmlns:a14="http://schemas.microsoft.com/office/drawing/2010/main" Requires="a14">
          <p:sp>
            <p:nvSpPr>
              <p:cNvPr id="141" name="Shape 141">
                <a:extLst>
                  <a:ext uri="{FF2B5EF4-FFF2-40B4-BE49-F238E27FC236}">
                    <a16:creationId xmlns:a16="http://schemas.microsoft.com/office/drawing/2014/main" id="{9344595D-8DD2-5413-CAB9-1719A189E1EF}"/>
                  </a:ext>
                </a:extLst>
              </p:cNvPr>
              <p:cNvSpPr/>
              <p:nvPr/>
            </p:nvSpPr>
            <p:spPr>
              <a:xfrm>
                <a:off x="1938500" y="6789835"/>
                <a:ext cx="13527100" cy="466954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Apply speed advisory to speed profile</a:t>
                </a:r>
              </a:p>
              <a:p>
                <a:pPr marL="342900" indent="-342900">
                  <a:lnSpc>
                    <a:spcPct val="150000"/>
                  </a:lnSpc>
                  <a:buFont typeface="Wingdings" panose="05000000000000000000" pitchFamily="2" charset="2"/>
                  <a:buChar char="q"/>
                </a:pPr>
                <a:r>
                  <a:rPr lang="en-GB" dirty="0">
                    <a:solidFill>
                      <a:schemeClr val="bg1"/>
                    </a:solidFill>
                  </a:rPr>
                  <a:t>Smooth speed evolution</a:t>
                </a:r>
              </a:p>
              <a:p>
                <a:pPr marL="342900" indent="-342900">
                  <a:lnSpc>
                    <a:spcPct val="150000"/>
                  </a:lnSpc>
                  <a:buFont typeface="Wingdings" panose="05000000000000000000" pitchFamily="2" charset="2"/>
                  <a:buChar char="q"/>
                </a:pPr>
                <a:r>
                  <a:rPr lang="en-GB" dirty="0">
                    <a:solidFill>
                      <a:schemeClr val="bg1"/>
                    </a:solidFill>
                  </a:rPr>
                  <a:t>Compute acceleration proxy</a:t>
                </a:r>
              </a:p>
              <a:p>
                <a:pPr marL="342900" indent="-342900">
                  <a:lnSpc>
                    <a:spcPct val="150000"/>
                  </a:lnSpc>
                  <a:buFont typeface="Wingdings" panose="05000000000000000000" pitchFamily="2" charset="2"/>
                  <a:buChar char="q"/>
                </a:pPr>
                <a:r>
                  <a:rPr lang="en-GB" dirty="0">
                    <a:solidFill>
                      <a:schemeClr val="bg1"/>
                    </a:solidFill>
                  </a:rPr>
                  <a:t>Compare baseline vs optimized</a:t>
                </a:r>
              </a:p>
              <a:p>
                <a:pPr>
                  <a:lnSpc>
                    <a:spcPct val="150000"/>
                  </a:lnSpc>
                </a:pPr>
                <a14:m>
                  <m:oMathPara xmlns:m="http://schemas.openxmlformats.org/officeDocument/2006/math">
                    <m:oMathParaPr>
                      <m:jc m:val="centerGroup"/>
                    </m:oMathParaPr>
                    <m:oMath xmlns:m="http://schemas.openxmlformats.org/officeDocument/2006/math">
                      <m:sSub>
                        <m:sSubPr>
                          <m:ctrlPr>
                            <a:rPr lang="en-GB" sz="4400" i="1" smtClean="0">
                              <a:solidFill>
                                <a:schemeClr val="bg1"/>
                              </a:solidFill>
                              <a:latin typeface="Cambria Math" panose="02040503050406030204" pitchFamily="18" charset="0"/>
                            </a:rPr>
                          </m:ctrlPr>
                        </m:sSubPr>
                        <m:e>
                          <m:r>
                            <a:rPr lang="en-GB" sz="4400" i="1">
                              <a:solidFill>
                                <a:schemeClr val="bg1"/>
                              </a:solidFill>
                              <a:latin typeface="Cambria Math" panose="02040503050406030204" pitchFamily="18" charset="0"/>
                            </a:rPr>
                            <m:t>𝑎</m:t>
                          </m:r>
                        </m:e>
                        <m:sub>
                          <m:r>
                            <a:rPr lang="en-GB" sz="4400" i="1">
                              <a:solidFill>
                                <a:schemeClr val="bg1"/>
                              </a:solidFill>
                              <a:latin typeface="Cambria Math" panose="02040503050406030204" pitchFamily="18" charset="0"/>
                            </a:rPr>
                            <m:t>𝑡</m:t>
                          </m:r>
                        </m:sub>
                      </m:sSub>
                      <m:r>
                        <a:rPr lang="en-GB" sz="4400" i="1">
                          <a:solidFill>
                            <a:schemeClr val="bg1"/>
                          </a:solidFill>
                          <a:latin typeface="Cambria Math" panose="02040503050406030204" pitchFamily="18" charset="0"/>
                        </a:rPr>
                        <m:t>=</m:t>
                      </m:r>
                      <m:f>
                        <m:fPr>
                          <m:ctrlPr>
                            <a:rPr lang="en-GB" sz="4400" i="1">
                              <a:solidFill>
                                <a:schemeClr val="bg1"/>
                              </a:solidFill>
                              <a:latin typeface="Cambria Math" panose="02040503050406030204" pitchFamily="18" charset="0"/>
                            </a:rPr>
                          </m:ctrlPr>
                        </m:fPr>
                        <m:num>
                          <m:sSub>
                            <m:sSubPr>
                              <m:ctrlPr>
                                <a:rPr lang="en-GB" sz="4400" i="1">
                                  <a:solidFill>
                                    <a:schemeClr val="bg1"/>
                                  </a:solidFill>
                                  <a:latin typeface="Cambria Math" panose="02040503050406030204" pitchFamily="18" charset="0"/>
                                </a:rPr>
                              </m:ctrlPr>
                            </m:sSubPr>
                            <m:e>
                              <m:r>
                                <a:rPr lang="en-GB" sz="4400" i="1">
                                  <a:solidFill>
                                    <a:schemeClr val="bg1"/>
                                  </a:solidFill>
                                  <a:latin typeface="Cambria Math" panose="02040503050406030204" pitchFamily="18" charset="0"/>
                                </a:rPr>
                                <m:t>𝑣</m:t>
                              </m:r>
                            </m:e>
                            <m:sub>
                              <m:r>
                                <a:rPr lang="en-GB" sz="4400" i="1">
                                  <a:solidFill>
                                    <a:schemeClr val="bg1"/>
                                  </a:solidFill>
                                  <a:latin typeface="Cambria Math" panose="02040503050406030204" pitchFamily="18" charset="0"/>
                                </a:rPr>
                                <m:t>𝑡</m:t>
                              </m:r>
                              <m:r>
                                <a:rPr lang="en-GB" sz="4400" i="1">
                                  <a:solidFill>
                                    <a:schemeClr val="bg1"/>
                                  </a:solidFill>
                                  <a:latin typeface="Cambria Math" panose="02040503050406030204" pitchFamily="18" charset="0"/>
                                </a:rPr>
                                <m:t>+</m:t>
                              </m:r>
                              <m:r>
                                <a:rPr lang="en-GB" sz="4400" i="1">
                                  <a:solidFill>
                                    <a:schemeClr val="bg1"/>
                                  </a:solidFill>
                                  <a:latin typeface="Cambria Math" panose="02040503050406030204" pitchFamily="18" charset="0"/>
                                </a:rPr>
                                <m:t>1</m:t>
                              </m:r>
                            </m:sub>
                          </m:sSub>
                          <m:r>
                            <a:rPr lang="en-GB" sz="4400" i="1">
                              <a:solidFill>
                                <a:schemeClr val="bg1"/>
                              </a:solidFill>
                              <a:latin typeface="Cambria Math" panose="02040503050406030204" pitchFamily="18" charset="0"/>
                            </a:rPr>
                            <m:t>−</m:t>
                          </m:r>
                          <m:sSub>
                            <m:sSubPr>
                              <m:ctrlPr>
                                <a:rPr lang="en-GB" sz="4400" i="1">
                                  <a:solidFill>
                                    <a:schemeClr val="bg1"/>
                                  </a:solidFill>
                                  <a:latin typeface="Cambria Math" panose="02040503050406030204" pitchFamily="18" charset="0"/>
                                </a:rPr>
                              </m:ctrlPr>
                            </m:sSubPr>
                            <m:e>
                              <m:r>
                                <a:rPr lang="en-GB" sz="4400" i="1">
                                  <a:solidFill>
                                    <a:schemeClr val="bg1"/>
                                  </a:solidFill>
                                  <a:latin typeface="Cambria Math" panose="02040503050406030204" pitchFamily="18" charset="0"/>
                                </a:rPr>
                                <m:t>𝑣</m:t>
                              </m:r>
                            </m:e>
                            <m:sub>
                              <m:r>
                                <a:rPr lang="en-GB" sz="4400" i="1">
                                  <a:solidFill>
                                    <a:schemeClr val="bg1"/>
                                  </a:solidFill>
                                  <a:latin typeface="Cambria Math" panose="02040503050406030204" pitchFamily="18" charset="0"/>
                                </a:rPr>
                                <m:t>𝑡</m:t>
                              </m:r>
                            </m:sub>
                          </m:sSub>
                        </m:num>
                        <m:den>
                          <m:r>
                            <m:rPr>
                              <m:sty m:val="p"/>
                            </m:rPr>
                            <a:rPr lang="en-GB" sz="4400" i="0">
                              <a:solidFill>
                                <a:schemeClr val="bg1"/>
                              </a:solidFill>
                              <a:latin typeface="Cambria Math" panose="02040503050406030204" pitchFamily="18" charset="0"/>
                            </a:rPr>
                            <m:t>Δ</m:t>
                          </m:r>
                          <m:r>
                            <a:rPr lang="en-GB" sz="4400" i="1">
                              <a:solidFill>
                                <a:schemeClr val="bg1"/>
                              </a:solidFill>
                              <a:latin typeface="Cambria Math" panose="02040503050406030204" pitchFamily="18" charset="0"/>
                            </a:rPr>
                            <m:t>𝑡</m:t>
                          </m:r>
                        </m:den>
                      </m:f>
                    </m:oMath>
                  </m:oMathPara>
                </a14:m>
              </a:p>
              <a:p>
                <a:pPr marL="342900" indent="-342900">
                  <a:lnSpc>
                    <a:spcPct val="150000"/>
                  </a:lnSpc>
                  <a:buFont typeface="Wingdings" panose="05000000000000000000" pitchFamily="2" charset="2"/>
                  <a:buChar char="q"/>
                </a:pPr>
                <a:endParaRPr lang="en-GB" dirty="0">
                  <a:solidFill>
                    <a:schemeClr val="bg1"/>
                  </a:solidFill>
                </a:endParaRPr>
              </a:p>
            </p:txBody>
          </p:sp>
        </mc:Choice>
        <mc:Fallback>
          <p:sp>
            <p:nvSpPr>
              <p:cNvPr id="141" name="Shape 141">
                <a:extLst>
                  <a:ext uri="{FF2B5EF4-FFF2-40B4-BE49-F238E27FC236}">
                    <a16:creationId xmlns:a16="http://schemas.microsoft.com/office/drawing/2014/main" id="{9344595D-8DD2-5413-CAB9-1719A189E1EF}"/>
                  </a:ext>
                </a:extLst>
              </p:cNvPr>
              <p:cNvSpPr>
                <a:spLocks noRot="1" noChangeAspect="1" noMove="1" noResize="1" noEditPoints="1" noAdjustHandles="1" noChangeArrowheads="1" noChangeShapeType="1" noTextEdit="1"/>
              </p:cNvSpPr>
              <p:nvPr/>
            </p:nvSpPr>
            <p:spPr>
              <a:xfrm>
                <a:off x="1938500" y="6789835"/>
                <a:ext cx="13527100" cy="4669548"/>
              </a:xfrm>
              <a:prstGeom prst="rect">
                <a:avLst/>
              </a:prstGeom>
              <a:blipFill>
                <a:blip r:embed="rId2"/>
                <a:stretch>
                  <a:fillRect l="-946"/>
                </a:stretch>
              </a:blipFill>
              <a:ln w="12700">
                <a:miter lim="400000"/>
              </a:ln>
              <a:extLst>
                <a:ext uri="{C572A759-6A51-4108-AA02-DFA0A04FC94B}">
                  <ma14:wrappingTextBoxFlag xmlns:ma14="http://schemas.microsoft.com/office/mac/drawingml/2011/main" xmlns="" val="1"/>
                </a:ext>
              </a:extLst>
            </p:spPr>
            <p:txBody>
              <a:bodyPr/>
              <a:lstStyle/>
              <a:p>
                <a:r>
                  <a:rPr lang="en-GB">
                    <a:noFill/>
                  </a:rPr>
                  <a:t> </a:t>
                </a:r>
              </a:p>
            </p:txBody>
          </p:sp>
        </mc:Fallback>
      </mc:AlternateContent>
      <p:sp>
        <p:nvSpPr>
          <p:cNvPr id="142" name="Shape 142">
            <a:extLst>
              <a:ext uri="{FF2B5EF4-FFF2-40B4-BE49-F238E27FC236}">
                <a16:creationId xmlns:a16="http://schemas.microsoft.com/office/drawing/2014/main" id="{558A266D-6B50-F1F7-E6D6-C329A7F5B2BF}"/>
              </a:ext>
            </a:extLst>
          </p:cNvPr>
          <p:cNvSpPr/>
          <p:nvPr/>
        </p:nvSpPr>
        <p:spPr>
          <a:xfrm>
            <a:off x="1607785" y="2768610"/>
            <a:ext cx="7721501" cy="213391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Closed-loop Evaluation</a:t>
            </a:r>
            <a:endParaRPr sz="6600" b="1" dirty="0"/>
          </a:p>
        </p:txBody>
      </p:sp>
      <p:sp>
        <p:nvSpPr>
          <p:cNvPr id="143" name="Shape 143">
            <a:extLst>
              <a:ext uri="{FF2B5EF4-FFF2-40B4-BE49-F238E27FC236}">
                <a16:creationId xmlns:a16="http://schemas.microsoft.com/office/drawing/2014/main" id="{98DBDA88-CFB4-AD2F-FA27-F36CE4C30B61}"/>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26F48A43-3AAE-5504-D6B8-2CE16D7E386E}"/>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C7540649-17EA-12FA-BACB-FD2B978B3575}"/>
              </a:ext>
            </a:extLst>
          </p:cNvPr>
          <p:cNvSpPr>
            <a:spLocks noGrp="1"/>
          </p:cNvSpPr>
          <p:nvPr>
            <p:ph type="sldNum" sz="quarter" idx="2"/>
          </p:nvPr>
        </p:nvSpPr>
        <p:spPr>
          <a:xfrm>
            <a:off x="11962833" y="13081000"/>
            <a:ext cx="445636" cy="471924"/>
          </a:xfrm>
        </p:spPr>
        <p:txBody>
          <a:bodyPr/>
          <a:lstStyle/>
          <a:p>
            <a:r>
              <a:rPr lang="de-DE" dirty="0"/>
              <a:t>21</a:t>
            </a:r>
            <a:endParaRPr lang="en-GB" dirty="0"/>
          </a:p>
        </p:txBody>
      </p:sp>
      <p:pic>
        <p:nvPicPr>
          <p:cNvPr id="6" name="Picture 5">
            <a:extLst>
              <a:ext uri="{FF2B5EF4-FFF2-40B4-BE49-F238E27FC236}">
                <a16:creationId xmlns:a16="http://schemas.microsoft.com/office/drawing/2014/main" id="{CCDCD313-9D9C-641A-0854-64ECC44777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390272066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9585-B128-B4D6-CDFB-3FDE028B6A6E}"/>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DBB8FA6A-8493-1EC2-AEEA-1F8BC43B9C76}"/>
              </a:ext>
            </a:extLst>
          </p:cNvPr>
          <p:cNvSpPr/>
          <p:nvPr/>
        </p:nvSpPr>
        <p:spPr>
          <a:xfrm>
            <a:off x="14940712" y="150074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dirty="0"/>
          </a:p>
        </p:txBody>
      </p:sp>
      <p:sp>
        <p:nvSpPr>
          <p:cNvPr id="140" name="Shape 140">
            <a:extLst>
              <a:ext uri="{FF2B5EF4-FFF2-40B4-BE49-F238E27FC236}">
                <a16:creationId xmlns:a16="http://schemas.microsoft.com/office/drawing/2014/main" id="{4968B804-E0C4-991F-FDA8-DD693B6065BF}"/>
              </a:ext>
            </a:extLst>
          </p:cNvPr>
          <p:cNvSpPr/>
          <p:nvPr/>
        </p:nvSpPr>
        <p:spPr>
          <a:xfrm>
            <a:off x="-1635654" y="5334207"/>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4EA4F972-A50B-C304-4417-480A53EDBFB7}"/>
              </a:ext>
            </a:extLst>
          </p:cNvPr>
          <p:cNvSpPr/>
          <p:nvPr/>
        </p:nvSpPr>
        <p:spPr>
          <a:xfrm>
            <a:off x="1527615" y="7171107"/>
            <a:ext cx="13527100" cy="177420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Reduced speed variance</a:t>
            </a:r>
          </a:p>
          <a:p>
            <a:pPr marL="342900" indent="-342900">
              <a:lnSpc>
                <a:spcPct val="150000"/>
              </a:lnSpc>
              <a:buFont typeface="Wingdings" panose="05000000000000000000" pitchFamily="2" charset="2"/>
              <a:buChar char="q"/>
            </a:pPr>
            <a:r>
              <a:rPr lang="en-GB" dirty="0">
                <a:solidFill>
                  <a:schemeClr val="bg1"/>
                </a:solidFill>
              </a:rPr>
              <a:t>Fewer harsh braking events</a:t>
            </a:r>
          </a:p>
          <a:p>
            <a:pPr marL="342900" indent="-342900">
              <a:lnSpc>
                <a:spcPct val="150000"/>
              </a:lnSpc>
              <a:buFont typeface="Wingdings" panose="05000000000000000000" pitchFamily="2" charset="2"/>
              <a:buChar char="q"/>
            </a:pPr>
            <a:r>
              <a:rPr lang="en-GB" dirty="0">
                <a:solidFill>
                  <a:schemeClr val="bg1"/>
                </a:solidFill>
              </a:rPr>
              <a:t>Smoother traffic behaviour</a:t>
            </a:r>
          </a:p>
        </p:txBody>
      </p:sp>
      <p:sp>
        <p:nvSpPr>
          <p:cNvPr id="142" name="Shape 142">
            <a:extLst>
              <a:ext uri="{FF2B5EF4-FFF2-40B4-BE49-F238E27FC236}">
                <a16:creationId xmlns:a16="http://schemas.microsoft.com/office/drawing/2014/main" id="{57E13FEE-6527-DF3D-2C67-C26B0B94A9E9}"/>
              </a:ext>
            </a:extLst>
          </p:cNvPr>
          <p:cNvSpPr/>
          <p:nvPr/>
        </p:nvSpPr>
        <p:spPr>
          <a:xfrm>
            <a:off x="1607785" y="3276442"/>
            <a:ext cx="7721501" cy="11182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Closed-loop Results</a:t>
            </a:r>
            <a:endParaRPr sz="6600" b="1" dirty="0"/>
          </a:p>
        </p:txBody>
      </p:sp>
      <p:sp>
        <p:nvSpPr>
          <p:cNvPr id="143" name="Shape 143">
            <a:extLst>
              <a:ext uri="{FF2B5EF4-FFF2-40B4-BE49-F238E27FC236}">
                <a16:creationId xmlns:a16="http://schemas.microsoft.com/office/drawing/2014/main" id="{A1D8D157-7507-850D-0064-4CADA701769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7400DEF8-4522-0285-0D12-EFB2246DF7F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3D0A89D5-CEAA-E5CD-9AD9-3CD2E4CAD20E}"/>
              </a:ext>
            </a:extLst>
          </p:cNvPr>
          <p:cNvSpPr>
            <a:spLocks noGrp="1"/>
          </p:cNvSpPr>
          <p:nvPr>
            <p:ph type="sldNum" sz="quarter" idx="2"/>
          </p:nvPr>
        </p:nvSpPr>
        <p:spPr>
          <a:xfrm>
            <a:off x="11962833" y="13081000"/>
            <a:ext cx="445636" cy="471924"/>
          </a:xfrm>
        </p:spPr>
        <p:txBody>
          <a:bodyPr/>
          <a:lstStyle/>
          <a:p>
            <a:r>
              <a:rPr lang="de-DE" dirty="0"/>
              <a:t>22</a:t>
            </a:r>
            <a:endParaRPr lang="en-GB" dirty="0"/>
          </a:p>
        </p:txBody>
      </p:sp>
      <p:pic>
        <p:nvPicPr>
          <p:cNvPr id="6" name="Picture 5">
            <a:extLst>
              <a:ext uri="{FF2B5EF4-FFF2-40B4-BE49-F238E27FC236}">
                <a16:creationId xmlns:a16="http://schemas.microsoft.com/office/drawing/2014/main" id="{16DE9519-D015-CCEC-FCDE-1B28DC378F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 name="Picture 2">
            <a:extLst>
              <a:ext uri="{FF2B5EF4-FFF2-40B4-BE49-F238E27FC236}">
                <a16:creationId xmlns:a16="http://schemas.microsoft.com/office/drawing/2014/main" id="{7DD9898D-8913-1EB8-B9CC-F53E9A4F1521}"/>
              </a:ext>
            </a:extLst>
          </p:cNvPr>
          <p:cNvPicPr>
            <a:picLocks noChangeAspect="1"/>
          </p:cNvPicPr>
          <p:nvPr/>
        </p:nvPicPr>
        <p:blipFill>
          <a:blip r:embed="rId3"/>
          <a:stretch>
            <a:fillRect/>
          </a:stretch>
        </p:blipFill>
        <p:spPr>
          <a:xfrm>
            <a:off x="15487923" y="3407145"/>
            <a:ext cx="7751137" cy="6122860"/>
          </a:xfrm>
          <a:prstGeom prst="rect">
            <a:avLst/>
          </a:prstGeom>
        </p:spPr>
      </p:pic>
      <p:pic>
        <p:nvPicPr>
          <p:cNvPr id="4" name="Picture 3">
            <a:extLst>
              <a:ext uri="{FF2B5EF4-FFF2-40B4-BE49-F238E27FC236}">
                <a16:creationId xmlns:a16="http://schemas.microsoft.com/office/drawing/2014/main" id="{447CCE38-AD3D-148C-CC79-93ABE15B5D17}"/>
              </a:ext>
            </a:extLst>
          </p:cNvPr>
          <p:cNvPicPr>
            <a:picLocks noChangeAspect="1"/>
          </p:cNvPicPr>
          <p:nvPr/>
        </p:nvPicPr>
        <p:blipFill>
          <a:blip r:embed="rId4"/>
          <a:stretch>
            <a:fillRect/>
          </a:stretch>
        </p:blipFill>
        <p:spPr>
          <a:xfrm>
            <a:off x="8880097" y="7632681"/>
            <a:ext cx="5362575" cy="4333875"/>
          </a:xfrm>
          <a:prstGeom prst="rect">
            <a:avLst/>
          </a:prstGeom>
        </p:spPr>
      </p:pic>
      <p:sp>
        <p:nvSpPr>
          <p:cNvPr id="5" name="TextBox 4">
            <a:extLst>
              <a:ext uri="{FF2B5EF4-FFF2-40B4-BE49-F238E27FC236}">
                <a16:creationId xmlns:a16="http://schemas.microsoft.com/office/drawing/2014/main" id="{5E4A3A16-C306-B0B7-2BCF-126DFDED5993}"/>
              </a:ext>
            </a:extLst>
          </p:cNvPr>
          <p:cNvSpPr txBox="1"/>
          <p:nvPr/>
        </p:nvSpPr>
        <p:spPr>
          <a:xfrm>
            <a:off x="12756059" y="9994268"/>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13: Closed Loop Speed Profile </a:t>
            </a:r>
            <a:endParaRPr lang="en-GB" sz="2400" i="1" dirty="0"/>
          </a:p>
        </p:txBody>
      </p:sp>
    </p:spTree>
    <p:extLst>
      <p:ext uri="{BB962C8B-B14F-4D97-AF65-F5344CB8AC3E}">
        <p14:creationId xmlns:p14="http://schemas.microsoft.com/office/powerpoint/2010/main" val="10043827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C3514-8C22-B2AD-EEF8-09DAA383091B}"/>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8BF3A5FB-8E33-8EC7-17B3-DF96D78212CB}"/>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E1FC0496-7CAF-4569-B577-D5B5A566EB71}"/>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0F0DB284-0B0C-DE87-CBFD-2C333A0556D3}"/>
              </a:ext>
            </a:extLst>
          </p:cNvPr>
          <p:cNvSpPr/>
          <p:nvPr/>
        </p:nvSpPr>
        <p:spPr>
          <a:xfrm>
            <a:off x="1527615" y="6882566"/>
            <a:ext cx="13527100" cy="235128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Direct braking prediction is ineffective</a:t>
            </a:r>
          </a:p>
          <a:p>
            <a:pPr marL="342900" indent="-342900">
              <a:lnSpc>
                <a:spcPct val="150000"/>
              </a:lnSpc>
              <a:buFont typeface="Wingdings" panose="05000000000000000000" pitchFamily="2" charset="2"/>
              <a:buChar char="q"/>
            </a:pPr>
            <a:r>
              <a:rPr lang="en-GB" dirty="0">
                <a:solidFill>
                  <a:schemeClr val="bg1"/>
                </a:solidFill>
              </a:rPr>
              <a:t>Speed prediction enables stability</a:t>
            </a:r>
          </a:p>
          <a:p>
            <a:pPr marL="342900" indent="-342900">
              <a:lnSpc>
                <a:spcPct val="150000"/>
              </a:lnSpc>
              <a:buFont typeface="Wingdings" panose="05000000000000000000" pitchFamily="2" charset="2"/>
              <a:buChar char="q"/>
            </a:pPr>
            <a:r>
              <a:rPr lang="en-GB" dirty="0">
                <a:solidFill>
                  <a:schemeClr val="bg1"/>
                </a:solidFill>
              </a:rPr>
              <a:t>Multi-task learning improves awareness</a:t>
            </a:r>
          </a:p>
          <a:p>
            <a:pPr marL="342900" indent="-342900">
              <a:lnSpc>
                <a:spcPct val="150000"/>
              </a:lnSpc>
              <a:buFont typeface="Wingdings" panose="05000000000000000000" pitchFamily="2" charset="2"/>
              <a:buChar char="q"/>
            </a:pPr>
            <a:r>
              <a:rPr lang="en-GB" dirty="0">
                <a:solidFill>
                  <a:schemeClr val="bg1"/>
                </a:solidFill>
              </a:rPr>
              <a:t>Rule-based control is practical </a:t>
            </a:r>
          </a:p>
        </p:txBody>
      </p:sp>
      <p:sp>
        <p:nvSpPr>
          <p:cNvPr id="142" name="Shape 142">
            <a:extLst>
              <a:ext uri="{FF2B5EF4-FFF2-40B4-BE49-F238E27FC236}">
                <a16:creationId xmlns:a16="http://schemas.microsoft.com/office/drawing/2014/main" id="{FA48F6CF-CB06-4A36-05AF-03700EEE6769}"/>
              </a:ext>
            </a:extLst>
          </p:cNvPr>
          <p:cNvSpPr/>
          <p:nvPr/>
        </p:nvSpPr>
        <p:spPr>
          <a:xfrm>
            <a:off x="1607785" y="3276442"/>
            <a:ext cx="7721501" cy="11182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Key Takeaways</a:t>
            </a:r>
            <a:endParaRPr sz="6600" b="1" dirty="0"/>
          </a:p>
        </p:txBody>
      </p:sp>
      <p:sp>
        <p:nvSpPr>
          <p:cNvPr id="143" name="Shape 143">
            <a:extLst>
              <a:ext uri="{FF2B5EF4-FFF2-40B4-BE49-F238E27FC236}">
                <a16:creationId xmlns:a16="http://schemas.microsoft.com/office/drawing/2014/main" id="{CF22DAD7-0189-15D7-2C6E-A5E27C40BFC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49FB1604-40BF-6F64-31B3-C5DD5ED4EC01}"/>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B4B3CB0D-72FA-C4E5-01F5-0ACCAFA1FEB5}"/>
              </a:ext>
            </a:extLst>
          </p:cNvPr>
          <p:cNvSpPr>
            <a:spLocks noGrp="1"/>
          </p:cNvSpPr>
          <p:nvPr>
            <p:ph type="sldNum" sz="quarter" idx="2"/>
          </p:nvPr>
        </p:nvSpPr>
        <p:spPr>
          <a:xfrm>
            <a:off x="11766119" y="13081000"/>
            <a:ext cx="445636" cy="471924"/>
          </a:xfrm>
        </p:spPr>
        <p:txBody>
          <a:bodyPr/>
          <a:lstStyle/>
          <a:p>
            <a:r>
              <a:rPr lang="de-DE" dirty="0"/>
              <a:t>23</a:t>
            </a:r>
            <a:endParaRPr lang="en-GB" dirty="0"/>
          </a:p>
        </p:txBody>
      </p:sp>
      <p:pic>
        <p:nvPicPr>
          <p:cNvPr id="6" name="Picture 5">
            <a:extLst>
              <a:ext uri="{FF2B5EF4-FFF2-40B4-BE49-F238E27FC236}">
                <a16:creationId xmlns:a16="http://schemas.microsoft.com/office/drawing/2014/main" id="{BAE078EA-B5DA-3015-51B6-1C2389AA73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395707979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Shape 178"/>
          <p:cNvSpPr/>
          <p:nvPr/>
        </p:nvSpPr>
        <p:spPr>
          <a:xfrm>
            <a:off x="-4337349" y="-2881148"/>
            <a:ext cx="14325006" cy="7180958"/>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179" name="Shape 179"/>
          <p:cNvSpPr/>
          <p:nvPr/>
        </p:nvSpPr>
        <p:spPr>
          <a:xfrm>
            <a:off x="1978429" y="1497486"/>
            <a:ext cx="9687095" cy="2030492"/>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lnSpc>
                <a:spcPct val="120000"/>
              </a:lnSpc>
              <a:defRPr sz="5400" spc="324">
                <a:latin typeface="Cantata One"/>
                <a:ea typeface="Cantata One"/>
                <a:cs typeface="Cantata One"/>
                <a:sym typeface="Cantata One"/>
              </a:defRPr>
            </a:lvl1pPr>
          </a:lstStyle>
          <a:p>
            <a:r>
              <a:rPr lang="en-GB" dirty="0"/>
              <a:t>Conclusion and Future</a:t>
            </a:r>
          </a:p>
          <a:p>
            <a:r>
              <a:rPr lang="en-GB" dirty="0"/>
              <a:t>Work </a:t>
            </a:r>
            <a:endParaRPr dirty="0"/>
          </a:p>
        </p:txBody>
      </p:sp>
      <p:sp>
        <p:nvSpPr>
          <p:cNvPr id="180" name="Shape 180"/>
          <p:cNvSpPr/>
          <p:nvPr/>
        </p:nvSpPr>
        <p:spPr>
          <a:xfrm>
            <a:off x="9322133" y="4665282"/>
            <a:ext cx="12161740" cy="316137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10000"/>
              </a:lnSpc>
              <a:defRPr sz="2600" spc="-130">
                <a:latin typeface="Cantata One"/>
                <a:ea typeface="Cantata One"/>
                <a:cs typeface="Cantata One"/>
                <a:sym typeface="Cantata One"/>
              </a:defRPr>
            </a:lvl1pPr>
          </a:lstStyle>
          <a:p>
            <a:r>
              <a:rPr lang="en-GB" dirty="0"/>
              <a:t>Deep learning can support smart traffic control</a:t>
            </a:r>
          </a:p>
          <a:p>
            <a:r>
              <a:rPr lang="en-GB" dirty="0"/>
              <a:t>LSTM captures traffic dynamics effectively</a:t>
            </a:r>
          </a:p>
          <a:p>
            <a:r>
              <a:rPr lang="en-GB" dirty="0"/>
              <a:t>Indirect optimization reduces braking</a:t>
            </a:r>
          </a:p>
          <a:p>
            <a:r>
              <a:rPr lang="en-GB" b="1" dirty="0"/>
              <a:t>Future Work</a:t>
            </a:r>
          </a:p>
          <a:p>
            <a:r>
              <a:rPr lang="en-GB" dirty="0"/>
              <a:t>Microscopic traffic simulation</a:t>
            </a:r>
          </a:p>
          <a:p>
            <a:r>
              <a:rPr lang="en-GB" dirty="0"/>
              <a:t>Reinforcement learning control</a:t>
            </a:r>
          </a:p>
          <a:p>
            <a:endParaRPr dirty="0"/>
          </a:p>
        </p:txBody>
      </p:sp>
      <p:sp>
        <p:nvSpPr>
          <p:cNvPr id="182" name="Shape 182"/>
          <p:cNvSpPr/>
          <p:nvPr/>
        </p:nvSpPr>
        <p:spPr>
          <a:xfrm>
            <a:off x="8072549" y="8379864"/>
            <a:ext cx="14325006" cy="7180958"/>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183" name="Shape 183"/>
          <p:cNvSpPr/>
          <p:nvPr/>
        </p:nvSpPr>
        <p:spPr>
          <a:xfrm>
            <a:off x="8901509" y="7865459"/>
            <a:ext cx="4476453" cy="126802"/>
          </a:xfrm>
          <a:custGeom>
            <a:avLst/>
            <a:gdLst/>
            <a:ahLst/>
            <a:cxnLst>
              <a:cxn ang="0">
                <a:pos x="wd2" y="hd2"/>
              </a:cxn>
              <a:cxn ang="5400000">
                <a:pos x="wd2" y="hd2"/>
              </a:cxn>
              <a:cxn ang="10800000">
                <a:pos x="wd2" y="hd2"/>
              </a:cxn>
              <a:cxn ang="16200000">
                <a:pos x="wd2" y="hd2"/>
              </a:cxn>
            </a:cxnLst>
            <a:rect l="0" t="0" r="r" b="b"/>
            <a:pathLst>
              <a:path w="21600" h="21600" extrusionOk="0">
                <a:moveTo>
                  <a:pt x="21294" y="0"/>
                </a:moveTo>
                <a:lnTo>
                  <a:pt x="306" y="0"/>
                </a:lnTo>
                <a:cubicBezTo>
                  <a:pt x="306" y="0"/>
                  <a:pt x="306" y="0"/>
                  <a:pt x="306" y="0"/>
                </a:cubicBezTo>
                <a:cubicBezTo>
                  <a:pt x="137" y="0"/>
                  <a:pt x="0" y="4835"/>
                  <a:pt x="0" y="10800"/>
                </a:cubicBezTo>
                <a:cubicBezTo>
                  <a:pt x="0" y="10800"/>
                  <a:pt x="0" y="10800"/>
                  <a:pt x="0" y="10800"/>
                </a:cubicBezTo>
                <a:cubicBezTo>
                  <a:pt x="0" y="10800"/>
                  <a:pt x="0" y="10800"/>
                  <a:pt x="0" y="10800"/>
                </a:cubicBezTo>
                <a:cubicBezTo>
                  <a:pt x="0" y="16765"/>
                  <a:pt x="137" y="21600"/>
                  <a:pt x="306" y="21600"/>
                </a:cubicBezTo>
                <a:cubicBezTo>
                  <a:pt x="306" y="21600"/>
                  <a:pt x="306" y="21600"/>
                  <a:pt x="306" y="21600"/>
                </a:cubicBezTo>
                <a:lnTo>
                  <a:pt x="21294" y="21600"/>
                </a:lnTo>
                <a:cubicBezTo>
                  <a:pt x="21294" y="21600"/>
                  <a:pt x="21294" y="21600"/>
                  <a:pt x="21294" y="21600"/>
                </a:cubicBezTo>
                <a:cubicBezTo>
                  <a:pt x="21463" y="21600"/>
                  <a:pt x="21600" y="16765"/>
                  <a:pt x="21600" y="10800"/>
                </a:cubicBezTo>
                <a:cubicBezTo>
                  <a:pt x="21600" y="10800"/>
                  <a:pt x="21600" y="10800"/>
                  <a:pt x="21600" y="10800"/>
                </a:cubicBezTo>
                <a:cubicBezTo>
                  <a:pt x="21600" y="10800"/>
                  <a:pt x="21600" y="10800"/>
                  <a:pt x="21600" y="10800"/>
                </a:cubicBezTo>
                <a:cubicBezTo>
                  <a:pt x="21600" y="4835"/>
                  <a:pt x="21463" y="0"/>
                  <a:pt x="21294" y="0"/>
                </a:cubicBezTo>
                <a:cubicBezTo>
                  <a:pt x="21294" y="0"/>
                  <a:pt x="21294" y="0"/>
                  <a:pt x="21294" y="0"/>
                </a:cubicBezTo>
                <a:close/>
              </a:path>
            </a:pathLst>
          </a:custGeom>
          <a:solidFill>
            <a:srgbClr val="000000"/>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49814692-310B-C580-33F3-4B40C0476067}"/>
              </a:ext>
            </a:extLst>
          </p:cNvPr>
          <p:cNvSpPr>
            <a:spLocks noGrp="1"/>
          </p:cNvSpPr>
          <p:nvPr>
            <p:ph type="sldNum" sz="quarter" idx="2"/>
          </p:nvPr>
        </p:nvSpPr>
        <p:spPr>
          <a:xfrm>
            <a:off x="11962833" y="13081000"/>
            <a:ext cx="445636" cy="471924"/>
          </a:xfrm>
        </p:spPr>
        <p:txBody>
          <a:bodyPr/>
          <a:lstStyle/>
          <a:p>
            <a:r>
              <a:rPr lang="en-GB" dirty="0"/>
              <a:t>24</a:t>
            </a:r>
          </a:p>
        </p:txBody>
      </p:sp>
      <p:pic>
        <p:nvPicPr>
          <p:cNvPr id="9218" name="Picture 2" descr="Reinforcement machine learning technique for optimal results outline diagram Reinforcement machine learning technique for optimal results outline diagram. Labeled educational scheme with ML big data agent, AI actions, feedback loop and final information vector illustration. reinforcement learning stock illustrations">
            <a:extLst>
              <a:ext uri="{FF2B5EF4-FFF2-40B4-BE49-F238E27FC236}">
                <a16:creationId xmlns:a16="http://schemas.microsoft.com/office/drawing/2014/main" id="{52284017-C8CD-E5B4-9967-2C8ED15A9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630" y="8107297"/>
            <a:ext cx="5829300" cy="45339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E1542C3-2333-A340-2ACA-EC99447DC370}"/>
              </a:ext>
            </a:extLst>
          </p:cNvPr>
          <p:cNvSpPr txBox="1"/>
          <p:nvPr/>
        </p:nvSpPr>
        <p:spPr>
          <a:xfrm>
            <a:off x="10341056" y="10930644"/>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14: Reinforcement Learning </a:t>
            </a:r>
            <a:endParaRPr lang="en-GB" sz="2400" i="1" dirty="0"/>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Shape 201"/>
          <p:cNvSpPr/>
          <p:nvPr/>
        </p:nvSpPr>
        <p:spPr>
          <a:xfrm>
            <a:off x="2546575" y="5183151"/>
            <a:ext cx="11460585" cy="228780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lvl="2" algn="l" defTabSz="457200">
              <a:defRPr sz="7100" spc="496">
                <a:latin typeface="Cantata One"/>
                <a:ea typeface="Cantata One"/>
                <a:cs typeface="Cantata One"/>
                <a:sym typeface="Cantata One"/>
              </a:defRPr>
            </a:pPr>
            <a:r>
              <a:rPr lang="en-GB" dirty="0"/>
              <a:t>THANK YOU!</a:t>
            </a:r>
          </a:p>
          <a:p>
            <a:pPr lvl="2" algn="l" defTabSz="457200">
              <a:defRPr sz="7100" spc="496">
                <a:latin typeface="Cantata One"/>
                <a:ea typeface="Cantata One"/>
                <a:cs typeface="Cantata One"/>
                <a:sym typeface="Cantata One"/>
              </a:defRPr>
            </a:pPr>
            <a:endParaRPr lang="en-GB" dirty="0"/>
          </a:p>
        </p:txBody>
      </p:sp>
      <p:sp>
        <p:nvSpPr>
          <p:cNvPr id="202" name="Shape 202"/>
          <p:cNvSpPr/>
          <p:nvPr/>
        </p:nvSpPr>
        <p:spPr>
          <a:xfrm>
            <a:off x="17749963" y="4702472"/>
            <a:ext cx="5400999" cy="1100301"/>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algn="l" defTabSz="457200">
              <a:lnSpc>
                <a:spcPts val="4700"/>
              </a:lnSpc>
              <a:defRPr sz="2300" spc="69">
                <a:solidFill>
                  <a:srgbClr val="5E5E5E"/>
                </a:solidFill>
                <a:latin typeface="Roboto"/>
                <a:ea typeface="Roboto"/>
                <a:cs typeface="Roboto"/>
                <a:sym typeface="Roboto"/>
              </a:defRPr>
            </a:pPr>
            <a:endParaRPr dirty="0"/>
          </a:p>
          <a:p>
            <a:pPr>
              <a:spcBef>
                <a:spcPts val="229"/>
              </a:spcBef>
            </a:pPr>
            <a:r>
              <a:rPr lang="en-US" sz="2400" dirty="0">
                <a:solidFill>
                  <a:schemeClr val="tx1"/>
                </a:solidFill>
                <a:latin typeface="Times New Roman"/>
                <a:cs typeface="Times New Roman"/>
              </a:rPr>
              <a:t>Moye</a:t>
            </a:r>
            <a:r>
              <a:rPr lang="en-US" sz="2400" spc="-60" dirty="0">
                <a:solidFill>
                  <a:schemeClr val="tx1"/>
                </a:solidFill>
                <a:latin typeface="Times New Roman"/>
                <a:cs typeface="Times New Roman"/>
              </a:rPr>
              <a:t> </a:t>
            </a:r>
            <a:r>
              <a:rPr lang="en-US" sz="2400" dirty="0">
                <a:solidFill>
                  <a:schemeClr val="tx1"/>
                </a:solidFill>
                <a:latin typeface="Times New Roman"/>
                <a:cs typeface="Times New Roman"/>
              </a:rPr>
              <a:t>Nyuysoni</a:t>
            </a:r>
            <a:r>
              <a:rPr lang="en-US" sz="2400" spc="-55" dirty="0">
                <a:solidFill>
                  <a:schemeClr val="tx1"/>
                </a:solidFill>
                <a:latin typeface="Times New Roman"/>
                <a:cs typeface="Times New Roman"/>
              </a:rPr>
              <a:t> </a:t>
            </a:r>
            <a:r>
              <a:rPr lang="en-US" sz="2400" dirty="0">
                <a:solidFill>
                  <a:schemeClr val="tx1"/>
                </a:solidFill>
                <a:latin typeface="Times New Roman"/>
                <a:cs typeface="Times New Roman"/>
              </a:rPr>
              <a:t>Glein</a:t>
            </a:r>
            <a:r>
              <a:rPr lang="en-US" sz="2400" spc="-20" dirty="0">
                <a:solidFill>
                  <a:schemeClr val="tx1"/>
                </a:solidFill>
                <a:latin typeface="Times New Roman"/>
                <a:cs typeface="Times New Roman"/>
              </a:rPr>
              <a:t> </a:t>
            </a:r>
            <a:r>
              <a:rPr lang="en-US" sz="2400" spc="-10" dirty="0">
                <a:solidFill>
                  <a:schemeClr val="tx1"/>
                </a:solidFill>
                <a:latin typeface="Times New Roman"/>
                <a:cs typeface="Times New Roman"/>
              </a:rPr>
              <a:t>Perry</a:t>
            </a:r>
          </a:p>
        </p:txBody>
      </p:sp>
      <p:sp>
        <p:nvSpPr>
          <p:cNvPr id="203" name="Shape 203"/>
          <p:cNvSpPr/>
          <p:nvPr/>
        </p:nvSpPr>
        <p:spPr>
          <a:xfrm>
            <a:off x="-595373" y="914400"/>
            <a:ext cx="21952745" cy="4281389"/>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2CA06C27-156A-949F-DA50-58374B643ADE}"/>
              </a:ext>
            </a:extLst>
          </p:cNvPr>
          <p:cNvSpPr>
            <a:spLocks noGrp="1"/>
          </p:cNvSpPr>
          <p:nvPr>
            <p:ph type="sldNum" sz="quarter" idx="2"/>
          </p:nvPr>
        </p:nvSpPr>
        <p:spPr/>
        <p:txBody>
          <a:bodyPr/>
          <a:lstStyle/>
          <a:p>
            <a:fld id="{86CB4B4D-7CA3-9044-876B-883B54F8677D}" type="slidenum">
              <a:rPr lang="en-GB" smtClean="0"/>
              <a:t>25</a:t>
            </a:fld>
            <a:endParaRPr lang="en-GB"/>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8827F-F1B7-0CF3-C909-90B44AA5CFE0}"/>
            </a:ext>
          </a:extLst>
        </p:cNvPr>
        <p:cNvGrpSpPr/>
        <p:nvPr/>
      </p:nvGrpSpPr>
      <p:grpSpPr>
        <a:xfrm>
          <a:off x="0" y="0"/>
          <a:ext cx="0" cy="0"/>
          <a:chOff x="0" y="0"/>
          <a:chExt cx="0" cy="0"/>
        </a:xfrm>
      </p:grpSpPr>
      <p:sp>
        <p:nvSpPr>
          <p:cNvPr id="201" name="Shape 201">
            <a:extLst>
              <a:ext uri="{FF2B5EF4-FFF2-40B4-BE49-F238E27FC236}">
                <a16:creationId xmlns:a16="http://schemas.microsoft.com/office/drawing/2014/main" id="{D93E548F-247E-1AE6-0B27-DA7C2F37232E}"/>
              </a:ext>
            </a:extLst>
          </p:cNvPr>
          <p:cNvSpPr/>
          <p:nvPr/>
        </p:nvSpPr>
        <p:spPr>
          <a:xfrm>
            <a:off x="368739" y="4537781"/>
            <a:ext cx="11460585" cy="228780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lvl="2" algn="l" defTabSz="457200">
              <a:defRPr sz="7100" spc="496">
                <a:latin typeface="Cantata One"/>
                <a:ea typeface="Cantata One"/>
                <a:cs typeface="Cantata One"/>
                <a:sym typeface="Cantata One"/>
              </a:defRPr>
            </a:pPr>
            <a:r>
              <a:rPr lang="de-DE" dirty="0"/>
              <a:t>Picture References </a:t>
            </a:r>
          </a:p>
          <a:p>
            <a:pPr lvl="2" algn="l" defTabSz="457200">
              <a:defRPr sz="7100" spc="496">
                <a:latin typeface="Cantata One"/>
                <a:ea typeface="Cantata One"/>
                <a:cs typeface="Cantata One"/>
                <a:sym typeface="Cantata One"/>
              </a:defRPr>
            </a:pPr>
            <a:endParaRPr dirty="0"/>
          </a:p>
        </p:txBody>
      </p:sp>
      <p:sp>
        <p:nvSpPr>
          <p:cNvPr id="202" name="Shape 202">
            <a:extLst>
              <a:ext uri="{FF2B5EF4-FFF2-40B4-BE49-F238E27FC236}">
                <a16:creationId xmlns:a16="http://schemas.microsoft.com/office/drawing/2014/main" id="{A383A8D7-692A-C744-914E-EE0056606113}"/>
              </a:ext>
            </a:extLst>
          </p:cNvPr>
          <p:cNvSpPr/>
          <p:nvPr/>
        </p:nvSpPr>
        <p:spPr>
          <a:xfrm>
            <a:off x="435900" y="5370768"/>
            <a:ext cx="20500848" cy="3039294"/>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p>
            <a:pPr algn="l" defTabSz="457200">
              <a:lnSpc>
                <a:spcPts val="4700"/>
              </a:lnSpc>
              <a:defRPr sz="2300" spc="69">
                <a:solidFill>
                  <a:srgbClr val="5E5E5E"/>
                </a:solidFill>
                <a:latin typeface="Roboto"/>
                <a:ea typeface="Roboto"/>
                <a:cs typeface="Roboto"/>
                <a:sym typeface="Roboto"/>
              </a:defRPr>
            </a:pPr>
            <a:r>
              <a:rPr lang="en-GB" dirty="0">
                <a:hlinkClick r:id="rId2"/>
              </a:rPr>
              <a:t>https://leotek.com/wp-content/uploads/2024/02/%E6%9C%AA%E5%91%BD%E5%90%8D%E8%A8%AD%E8%A8%88-2025-02-19T145113.775.jpg</a:t>
            </a:r>
            <a:endParaRPr lang="en-GB" dirty="0"/>
          </a:p>
          <a:p>
            <a:pPr algn="l" defTabSz="457200">
              <a:lnSpc>
                <a:spcPts val="4700"/>
              </a:lnSpc>
              <a:defRPr sz="2300" spc="69">
                <a:solidFill>
                  <a:srgbClr val="5E5E5E"/>
                </a:solidFill>
                <a:latin typeface="Roboto"/>
                <a:ea typeface="Roboto"/>
                <a:cs typeface="Roboto"/>
                <a:sym typeface="Roboto"/>
              </a:defRPr>
            </a:pPr>
            <a:r>
              <a:rPr lang="en-GB" dirty="0">
                <a:uFill>
                  <a:solidFill>
                    <a:srgbClr val="0000FF"/>
                  </a:solidFill>
                </a:uFill>
                <a:hlinkClick r:id="rId3"/>
              </a:rPr>
              <a:t>https://unsplash.com/photos/long-exposure-photography-of-road-and-cars-NqOInJ-ttqM</a:t>
            </a:r>
          </a:p>
          <a:p>
            <a:pPr algn="l" defTabSz="457200">
              <a:lnSpc>
                <a:spcPts val="4700"/>
              </a:lnSpc>
              <a:defRPr sz="2300" spc="69">
                <a:solidFill>
                  <a:srgbClr val="5E5E5E"/>
                </a:solidFill>
                <a:latin typeface="Roboto"/>
                <a:ea typeface="Roboto"/>
                <a:cs typeface="Roboto"/>
                <a:sym typeface="Roboto"/>
              </a:defRPr>
            </a:pPr>
            <a:r>
              <a:rPr lang="en-GB" dirty="0">
                <a:uFill>
                  <a:solidFill>
                    <a:srgbClr val="0000FF"/>
                  </a:solidFill>
                </a:uFill>
                <a:hlinkClick r:id="rId3"/>
              </a:rPr>
              <a:t>https://www.freepik.com/free-photos-vectors/machine-learning</a:t>
            </a:r>
          </a:p>
          <a:p>
            <a:pPr algn="l" defTabSz="457200">
              <a:lnSpc>
                <a:spcPts val="4700"/>
              </a:lnSpc>
              <a:defRPr sz="2300" spc="69">
                <a:solidFill>
                  <a:srgbClr val="5E5E5E"/>
                </a:solidFill>
                <a:latin typeface="Roboto"/>
                <a:ea typeface="Roboto"/>
                <a:cs typeface="Roboto"/>
                <a:sym typeface="Roboto"/>
              </a:defRPr>
            </a:pPr>
            <a:r>
              <a:rPr lang="en-GB" dirty="0">
                <a:uFill>
                  <a:solidFill>
                    <a:srgbClr val="0000FF"/>
                  </a:solidFill>
                </a:uFill>
                <a:hlinkClick r:id="rId3"/>
              </a:rPr>
              <a:t>https://kenovy.com/what-is-deep-learning/</a:t>
            </a:r>
          </a:p>
          <a:p>
            <a:pPr algn="l" defTabSz="457200">
              <a:lnSpc>
                <a:spcPts val="4700"/>
              </a:lnSpc>
              <a:defRPr sz="2300" spc="69">
                <a:solidFill>
                  <a:srgbClr val="5E5E5E"/>
                </a:solidFill>
                <a:latin typeface="Roboto"/>
                <a:ea typeface="Roboto"/>
                <a:cs typeface="Roboto"/>
                <a:sym typeface="Roboto"/>
              </a:defRPr>
            </a:pPr>
            <a:endParaRPr dirty="0">
              <a:uFill>
                <a:solidFill>
                  <a:srgbClr val="0000FF"/>
                </a:solidFill>
              </a:uFill>
              <a:hlinkClick r:id="rId3"/>
            </a:endParaRPr>
          </a:p>
        </p:txBody>
      </p:sp>
      <p:sp>
        <p:nvSpPr>
          <p:cNvPr id="203" name="Shape 203">
            <a:extLst>
              <a:ext uri="{FF2B5EF4-FFF2-40B4-BE49-F238E27FC236}">
                <a16:creationId xmlns:a16="http://schemas.microsoft.com/office/drawing/2014/main" id="{FD97A74F-2370-1F70-8D12-350933FAB13D}"/>
              </a:ext>
            </a:extLst>
          </p:cNvPr>
          <p:cNvSpPr/>
          <p:nvPr/>
        </p:nvSpPr>
        <p:spPr>
          <a:xfrm>
            <a:off x="-1015997" y="256392"/>
            <a:ext cx="21952745" cy="4281389"/>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38084B5B-67C0-9BA3-91CD-FC31AACD863A}"/>
              </a:ext>
            </a:extLst>
          </p:cNvPr>
          <p:cNvSpPr>
            <a:spLocks noGrp="1"/>
          </p:cNvSpPr>
          <p:nvPr>
            <p:ph type="sldNum" sz="quarter" idx="2"/>
          </p:nvPr>
        </p:nvSpPr>
        <p:spPr/>
        <p:txBody>
          <a:bodyPr/>
          <a:lstStyle/>
          <a:p>
            <a:fld id="{86CB4B4D-7CA3-9044-876B-883B54F8677D}" type="slidenum">
              <a:rPr lang="en-GB" smtClean="0"/>
              <a:t>26</a:t>
            </a:fld>
            <a:endParaRPr lang="en-GB"/>
          </a:p>
        </p:txBody>
      </p:sp>
    </p:spTree>
    <p:extLst>
      <p:ext uri="{BB962C8B-B14F-4D97-AF65-F5344CB8AC3E}">
        <p14:creationId xmlns:p14="http://schemas.microsoft.com/office/powerpoint/2010/main" val="3971228521"/>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3463</TotalTime>
  <Words>731</Words>
  <Application>Microsoft Office PowerPoint</Application>
  <PresentationFormat>Custom</PresentationFormat>
  <Paragraphs>188</Paragraphs>
  <Slides>26</Slides>
  <Notes>2</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Bodoni MT Condensed</vt:lpstr>
      <vt:lpstr>Cambria Math</vt:lpstr>
      <vt:lpstr>Cantata One</vt:lpstr>
      <vt:lpstr>Helvetica Neue</vt:lpstr>
      <vt:lpstr>Helvetica Neue Light</vt:lpstr>
      <vt:lpstr>Helvetica Neue Medium</vt:lpstr>
      <vt:lpstr>Times New Roman</vt:lpstr>
      <vt:lpstr>Wingdings</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Blueberry</dc:creator>
  <cp:lastModifiedBy>Moye Nyuysoni</cp:lastModifiedBy>
  <cp:revision>24</cp:revision>
  <dcterms:modified xsi:type="dcterms:W3CDTF">2025-12-22T12:50:33Z</dcterms:modified>
</cp:coreProperties>
</file>